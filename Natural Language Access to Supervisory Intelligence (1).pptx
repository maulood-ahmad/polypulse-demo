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One-sentence purpose: we will show how supervisors can ask questions of firm data in plain English, using Databricks Genie on top of our content extraction workflow. Tell the room what they will leave with: why this needs more than a chatbot, how it works, a live demo, and how we make it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Give the audience the map so they always know where they are; each part opens with a divider slide that repeats it. Say who presents which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Signpost the first part: supervisors have plenty of information and plenty of questions, but no curated way to answer them for a given risk stripe when they need to. Then what talk to your data is, where the data comes from, a worked example, and why the obvious tools fall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from the supervisor's side before any technology. Supervisors are not short of information: firms send MI packs and other submissions every period, across every risk stripe. Nor are they short of questions. Put simply, the questions boil down to three: where does this firm stand, how does it compare with its peers, and what has changed and why. They tend to arrive at short notice: the day before a firm meeting, during a peer review, or when something looks off. What is missing is a curated route from question to answer. Information is organised by firm and by document, not by risk stripe, so a credit risk specialist wanting the credit view across firms has to dig through pack after pack. By supervisory intelligence we mean what supervisors know about firms, in numbers and in narrative. Our aim is natural language access to it, curated by risk stripe and available when it is needed; this talk uses credit risk as the worked example. The next slide makes those three questions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previous slide concrete with one risk stripe. Ask the room: how would you answer each of these today? Walk the five types from simple to hard. A look-up means finding the right pack and page. A comparison or trend means copying numbers from many packs into a spreadsheet. A screen across all firms usually becomes a data request. An explanation needs an analyst. Swap in real credit risk questions from supervisors you work with, and confirm the "answered today" column with them. The point: these questions are numeric, cross-firm and time-sensitive, which shapes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Stress step 4: the answer comes back in plain English, and as a table or chart where that helps, always with the SQL for anyone who wants to check it. Talk to your data is a natural-language interface over structured data. The LLM's job is translation: understanding the question and writing SQL. The database does the arithmetic. That distinction matters for supervisors, because it means the answer is grounded in the data rather than in what the model thinks it remembers, and the SQL is there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obvious question: where does the data come from? Left: two kinds of source. Unstructured documents, such as firm MI packs, board papers and management commentary, need content extraction. Structured data, such as regulatory returns and reference data, can be joined directly. Second column: extraction is bespoke for each risk stripe. Credit risk, liquidity and capital each have their own tables, vocabulary and conventions, so each gets its own tuned extraction rather than one generic extractor. Third: the output lands in one governed home in Unity Catalog, as numbers, narrative, and the firm, period and source page behind each. Right: those curated tables feed a Genie agent per risk stripe, each with its own context and tests. This is the pattern the rest of the talk builds on: we demo the credit risk agent, and [Presenter 2] shows the agents working together. Confirm which sources and stripes are in scope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with the credit risk stripe. Left: a page from the firm's MI pack has a number, Stage 3 loans rising from [80] to 100 million pounds, and a sentence of management commentary explaining why. Middle: extraction captures both. The number becomes a quantitative claim; the commentary becomes a narrative claim, linked to the metric it explains and to its source page. Right: a supervisor asks why, and Genie answers with the movement and the firm's own explanation, citing the page, with the SQL and table underneath. Numbers alone tell you what happened; the narrative tells you what the firm says is driving it, which is usually what a supervisor actually wants to know. Replace the bracketed figures, driver and page with a real, shareable example, and confirm narrative claims are queryable in your current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audience will have, so answer it early. A general chatbot has never seen our data, so any number it gives comes from memory. A copilot over documents retrieves a few passages per question. That works for "what does this pack say about X", but not for "compare X across forty firms over eight quarters", because the answer is spread across hundreds of pages and the model would have to do the arithmetic itself. Genie works on the structured output of extraction: every claim is a row, the database does the maths, the SQL is visible, definitions are agreed once, and permissions come from Unity Catalog. Be fair: copilots are complementary, they are just the wrong tool for quantitative, cross-document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line: supervisors need curated, risk-stripe answers at the point of need, and a chatbot over PDFs cannot give them reliably. Now, how we deliver them: the data model Genie sees, how a Genie agent is configured, and Agent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rows; swap in real table names and a shareable example. Genie does not read PDFs; it queries a small set of curated tables built by the credit risk extraction. Top left: numbers, one row per figure, with firm, period, metric, value and source page; the highlighted row is the Stage 3 example from earlier. Top right: narrative, one row per piece of commentary, linked to the number it explains; that link is what lets Genie answer "why". Underneath, the context that makes answers consistent: a metric dictionary so every firm's wording maps to one agreed metric, firm reference data for like-for-like peer comparisons, and Unity Catalog, Databricks' governance layer, which holds the tables, their descriptions and permissions. Standardisation is the hard part: if one firm says Stage 3 and another says credit-impaired, both must map to the same metric or Genie will split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show what sits behind a Genie agent. It is not a black box: we choose the tables, describe them in business language, add supervisory conventions as instructions, and provide example SQL for the questions we expect. Benchmarks are a set of questions with known correct answers that we can rerun whenever we change the configuration, which connects nicely to the evaluation theme of the next talk. Mention any specific instruction you added that made a visible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mode, formerly called Research Agent, is the step change. Standard Genie turns one question into one query. Agent mode behaves more like an analyst: it confirms what happened, forms hypotheses about why, runs several queries to test them, and writes up a report with its reasoning visible. For supervision that is the difference between "what is the ratio" and "why has it moved". It uses the same context and data as standard Genie, so all the configuration work on the previous slide pays off twice. Caveats: it takes longer and, at the time of writing, it is in preview, so confirm current status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we have seen the data and the configuration. Now see it working, first a single Genie agent, then [Presenter 2] on multi-agent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Databricks workspace. Escalate in three steps so the audience sees the progression. Question 1, a lookup: open the generated SQL and point out that the metric definition comes from our instructions. Question 2, a comparison: show the chart and the join across firms and periods. Question 3, turn on Agent mode: narrate the plan and the queries as they run, then open the final report. Agent mode can take a while, so either pre-run it in a second tab or talk through the slides while it works. Have a recorded backup of the full demo in case the connection or workspace misbehaves. Use firms and metrics that are safe to show to this audience. Finish by giving feedback on one answer, so the audience has seen the button we come back to in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Handover to [Partner]. One Genie agent works best with a focused set of tables, so the pattern is one curated Genie agent per risk stripe, with an orchestrating agent in front. The supervisor asks in one place; the orchestrator decides which agents to call, sends each the relevant part of the question, and combines what comes back into one answer. This is the curated, per-risk-stripe view from the opening, extended across stripes. Replace the bracketed risk stripes with the agents in the video, then play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after the video, or [Presenter 1] to wrap up the section. Give the honest trade-off rather than implying multi-agent is always better. The benefits are focus, ownership and permissions. The costs are routing mistakes, latency, stitching answers together, and a bigger evaluation surface. Add anything the prototype taught you, for example a question that was routed to the wrong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it works and it scales. The question a supervisor will ask next is whether they can trust it. This part covers risks, how we evaluate Genie before release and in production through user feedback, and where we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risks; a supervisory audience will respect it. Natural language is ambiguous, so context and instructions matter. Generated SQL can look right and be wrong, so transparency and benchmarks are the guardrails. Genie cannot fix bad upstream data, which leads into the next talk. Agent mode reports read convincingly, so position them as a starting point for judgement. And access control is inherited from Unity Catalog, so users only query what they are entitled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Benchmarks are Genie's built-in test suite. They evaluate the agent; they do not teach it. Each benchmark is a question plus the SQL that returns the correct answer; a Unity Catalog SQL function can also serve as the gold answer. Databricks recommends several phrasings per question, because supervisors will not all ask it the same way. When you run them, Genie answers each question fresh and its result is compared with the gold result; questions without gold SQL need a person to judge. Every run is kept, so you can show accuracy moving as the agent is refined. This is the Genie equivalent of the ground truth set in the evaluations talk. Check the exact result labels in your workspace; the three categories here describe the outcomes rather than quoting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evals in production, one of the gaps the evaluations team lists. Step 1: supervisors react where they read the answer: whether it helped, what was wrong, and they can ask Genie to try again or request a review from the agent's editors. Step 2: editors see everything in the Monitoring tab: every question, answer and SQL, a weekly digest of usage and feedback, and flagged answers. Step 3: they diagnose the cause and fix it in the right place. If the agent picked the wrong metric or period, fix Genie's context; if the number itself was wrong, the fix belongs upstream in extraction, which is the territory of the next talk. Then the failed question becomes a benchmark, so it stays fixed. Key message: Genie does not learn from feedback by itself, so this needs an owner and a routine. If you showed the feedback buttons at the end of the demo, point back to them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the next talk. The two evaluations ask different questions but share the same building blocks: ground truth, scoring, an error taxonomy, and supervisors defining what good looks like. Extraction evaluation checks the data; Genie evaluation checks the answers built on it. Note the last row: the evaluations team flags evals in production as something not yet covered, and Genie's feedback and monitoring are one way to start. Check the left column wording with the evaluations presenters so the two talks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confirm items and timings with the team before presenting. Extending to further risk stripes follows the pattern from the "where the data comes from" slide: one bespoke extraction and one curated agent per stripe. Agent mode API support is limited while it is in preview, which is why it sits under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three points: the need, the approach, and what makes it trustworthy. Then move to questions and the handover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or hold them until after the evaluations talk if the agenda prefers. Then hand over: we have shown how supervisors get natural language access to the data; the next session shows how the team measures whether the extracted data behind it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2"/>
          </a:xfrm>
          <a:prstGeom prst="rect">
            <a:avLst/>
          </a:prstGeom>
          <a:noFill/>
          <a:ln/>
        </p:spPr>
        <p:txBody>
          <a:bodyPr wrap="square" lIns="0" tIns="0" rIns="0" bIns="0" rtlCol="0" anchor="t"/>
          <a:lstStyle>
            <a:lvl1pPr algn="l" indent="0" marL="0">
              <a:lnSpc>
                <a:spcPct val="115000"/>
              </a:lnSpc>
              <a:buNone/>
              <a:defRPr lang="en-US" sz="3200" dirty="0">
                <a:solidFill>
                  <a:srgbClr val="12273F"/>
                </a:solidFill>
                <a:latin typeface="Outfit" pitchFamily="34" charset="0"/>
                <a:ea typeface="Outfit" pitchFamily="34" charset="-122"/>
                <a:cs typeface="Outfi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2"/>
            <a:ext cx="10566400" cy="4480568"/>
          </a:xfrm>
          <a:prstGeom prst="rect">
            <a:avLst/>
          </a:prstGeom>
          <a:noFill/>
          <a:ln/>
        </p:spPr>
        <p:txBody>
          <a:bodyPr wrap="square" lIns="0" tIns="0" rIns="0" bIns="0" rtlCol="0" anchor="t"/>
          <a:lstStyle>
            <a:lvl1pPr algn="l" indent="0" marL="0">
              <a:lnSpc>
                <a:spcPct val="140000"/>
              </a:lnSpc>
              <a:buNone/>
              <a:defRPr lang="en-US" sz="1600" dirty="0">
                <a:solidFill>
                  <a:srgbClr val="12273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2"/>
          </a:xfrm>
          <a:prstGeom prst="rect">
            <a:avLst/>
          </a:prstGeom>
          <a:noFill/>
          <a:ln/>
        </p:spPr>
        <p:txBody>
          <a:bodyPr wrap="square" lIns="0" tIns="0" rIns="0" bIns="0" rtlCol="0" anchor="t"/>
          <a:lstStyle>
            <a:lvl1pPr algn="l" indent="0" marL="0">
              <a:lnSpc>
                <a:spcPct val="115000"/>
              </a:lnSpc>
              <a:buNone/>
              <a:defRPr lang="en-US" sz="3200" dirty="0">
                <a:solidFill>
                  <a:srgbClr val="12273F"/>
                </a:solidFill>
                <a:latin typeface="Outfit" pitchFamily="34" charset="0"/>
                <a:ea typeface="Outfit" pitchFamily="34" charset="-122"/>
                <a:cs typeface="Outfi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2"/>
            <a:ext cx="10566400" cy="4480568"/>
          </a:xfrm>
          <a:prstGeom prst="rect">
            <a:avLst/>
          </a:prstGeom>
          <a:noFill/>
          <a:ln/>
        </p:spPr>
        <p:txBody>
          <a:bodyPr wrap="square" lIns="0" tIns="0" rIns="0" bIns="0" rtlCol="0" anchor="t"/>
          <a:lstStyle>
            <a:lvl1pPr algn="l" indent="0" marL="0">
              <a:lnSpc>
                <a:spcPct val="140000"/>
              </a:lnSpc>
              <a:buNone/>
              <a:defRPr lang="en-US" sz="1600" dirty="0">
                <a:solidFill>
                  <a:srgbClr val="12273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73F"/>
        </a:solidFill>
      </p:bgPr>
    </p:bg>
    <p:spTree>
      <p:nvGrpSpPr>
        <p:cNvPr id="1" name=""/>
        <p:cNvGrpSpPr/>
        <p:nvPr/>
      </p:nvGrpSpPr>
      <p:grpSpPr>
        <a:xfrm>
          <a:off x="0" y="0"/>
          <a:ext cx="0" cy="0"/>
          <a:chOff x="0" y="0"/>
          <a:chExt cx="0" cy="0"/>
        </a:xfrm>
      </p:grpSpPr>
      <p:sp>
        <p:nvSpPr>
          <p:cNvPr id="2" name="Shape 0"/>
          <p:cNvSpPr/>
          <p:nvPr/>
        </p:nvSpPr>
        <p:spPr>
          <a:xfrm>
            <a:off x="8509000" y="0"/>
            <a:ext cx="3683000" cy="6858000"/>
          </a:xfrm>
          <a:prstGeom prst="rect">
            <a:avLst/>
          </a:prstGeom>
          <a:gradFill rotWithShape="1">
            <a:gsLst>
              <a:gs pos="0">
                <a:srgbClr val="3CD7D9"/>
              </a:gs>
              <a:gs pos="66000">
                <a:srgbClr val="3CD7D9"/>
              </a:gs>
              <a:gs pos="66000">
                <a:srgbClr val="77E3E4"/>
              </a:gs>
              <a:gs pos="100000">
                <a:srgbClr val="77E3E4"/>
              </a:gs>
            </a:gsLst>
            <a:lin ang="0" scaled="0"/>
          </a:gradFill>
          <a:ln/>
        </p:spPr>
      </p:sp>
      <p:sp>
        <p:nvSpPr>
          <p:cNvPr id="3" name="Text 1"/>
          <p:cNvSpPr/>
          <p:nvPr/>
        </p:nvSpPr>
        <p:spPr>
          <a:xfrm>
            <a:off x="812800" y="812800"/>
            <a:ext cx="7521575"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CD7D9"/>
                </a:solidFill>
                <a:latin typeface="Inter" pitchFamily="34" charset="0"/>
                <a:ea typeface="Inter" pitchFamily="34" charset="-122"/>
                <a:cs typeface="Inter" pitchFamily="34" charset="-120"/>
              </a:rPr>
              <a:t>TALK TO YOUR DATA</a:t>
            </a:r>
            <a:endParaRPr lang="en-US" sz="1200" dirty="0"/>
          </a:p>
        </p:txBody>
      </p:sp>
      <p:sp>
        <p:nvSpPr>
          <p:cNvPr id="4" name="Text 2"/>
          <p:cNvSpPr/>
          <p:nvPr>
            <p:ph type="title"/>
          </p:nvPr>
        </p:nvSpPr>
        <p:spPr>
          <a:xfrm>
            <a:off x="812800" y="1280130"/>
            <a:ext cx="7521575" cy="1252160"/>
          </a:xfrm>
          <a:prstGeom prst="rect">
            <a:avLst/>
          </a:prstGeom>
          <a:noFill/>
          <a:ln/>
        </p:spPr>
        <p:txBody>
          <a:bodyPr wrap="square" lIns="0" tIns="0" rIns="0" bIns="0" rtlCol="0" anchor="t">
            <a:normAutofit/>
          </a:bodyPr>
          <a:lstStyle/>
          <a:p>
            <a:pPr algn="l" indent="0" marL="0">
              <a:lnSpc>
                <a:spcPts val="4830"/>
              </a:lnSpc>
              <a:buNone/>
            </a:pPr>
            <a:r>
              <a:rPr lang="en-US" sz="4600" b="1" i="0" dirty="0">
                <a:solidFill>
                  <a:srgbClr val="FFFFFF"/>
                </a:solidFill>
                <a:latin typeface="Outfit" pitchFamily="34" charset="0"/>
                <a:ea typeface="Outfit" pitchFamily="34" charset="-122"/>
                <a:cs typeface="Outfit" pitchFamily="34" charset="-120"/>
              </a:rPr>
              <a:t>Natural language access to supervisory intelligence</a:t>
            </a:r>
            <a:endParaRPr lang="en-US" sz="4600" dirty="0"/>
          </a:p>
        </p:txBody>
      </p:sp>
      <p:sp>
        <p:nvSpPr>
          <p:cNvPr id="5" name="Text 3"/>
          <p:cNvSpPr/>
          <p:nvPr/>
        </p:nvSpPr>
        <p:spPr>
          <a:xfrm>
            <a:off x="812800" y="2760889"/>
            <a:ext cx="7521575" cy="6298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C9CF"/>
                </a:solidFill>
                <a:latin typeface="Inter" pitchFamily="34" charset="0"/>
                <a:ea typeface="Inter" pitchFamily="34" charset="-122"/>
                <a:cs typeface="Inter" pitchFamily="34" charset="-120"/>
              </a:rPr>
              <a:t>Asking questions of supervisory data in plain English, with Databricks Genie</a:t>
            </a:r>
            <a:endParaRPr lang="en-US" sz="1700" dirty="0"/>
          </a:p>
        </p:txBody>
      </p:sp>
      <p:sp>
        <p:nvSpPr>
          <p:cNvPr id="6" name="Text 4"/>
          <p:cNvSpPr/>
          <p:nvPr/>
        </p:nvSpPr>
        <p:spPr>
          <a:xfrm>
            <a:off x="812800" y="5814068"/>
            <a:ext cx="7521575"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[Presenter 1] · [Presenter 2] · [Event, date]</a:t>
            </a:r>
            <a:endParaRPr lang="en-US" sz="1300" dirty="0"/>
          </a:p>
        </p:txBody>
      </p:sp>
      <p:sp>
        <p:nvSpPr>
          <p:cNvPr id="7" name="Text 5"/>
          <p:cNvSpPr/>
          <p:nvPr/>
        </p:nvSpPr>
        <p:spPr>
          <a:xfrm>
            <a:off x="8890000" y="2159000"/>
            <a:ext cx="2794000" cy="886430"/>
          </a:xfrm>
          <a:prstGeom prst="roundRect">
            <a:avLst>
              <a:gd name="adj" fmla="val 20058"/>
            </a:avLst>
          </a:prstGeom>
          <a:solidFill>
            <a:srgbClr val="12273F"/>
          </a:solidFill>
          <a:ln/>
          <a:effectLst>
            <a:outerShdw sx="100000" sy="100000" kx="0" ky="0" algn="bl" rotWithShape="0" blurRad="203200" dist="76200" dir="5400000">
              <a:srgbClr val="12273F">
                <a:alpha val="25000"/>
              </a:srgbClr>
            </a:outerShdw>
          </a:effectLst>
        </p:spPr>
        <p:txBody>
          <a:bodyPr wrap="square" lIns="151124" tIns="151124" rIns="79496" bIns="125724"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Which firms' Stage 3 loans rose last quarter?</a:t>
            </a:r>
            <a:endParaRPr lang="en-US" sz="1400" dirty="0"/>
          </a:p>
        </p:txBody>
      </p:sp>
      <p:sp>
        <p:nvSpPr>
          <p:cNvPr id="8" name="Text 6"/>
          <p:cNvSpPr/>
          <p:nvPr/>
        </p:nvSpPr>
        <p:spPr>
          <a:xfrm>
            <a:off x="9144000" y="3556000"/>
            <a:ext cx="2540000" cy="1126445"/>
          </a:xfrm>
          <a:prstGeom prst="roundRect">
            <a:avLst>
              <a:gd name="adj" fmla="val 15784"/>
            </a:avLst>
          </a:prstGeom>
          <a:solidFill>
            <a:srgbClr val="FFFFFF"/>
          </a:solidFill>
          <a:ln/>
          <a:effectLst>
            <a:outerShdw sx="100000" sy="100000" kx="0" ky="0" algn="bl" rotWithShape="0" blurRad="203200" dist="76200" dir="5400000">
              <a:srgbClr val="12273F">
                <a:alpha val="25000"/>
              </a:srgbClr>
            </a:outerShdw>
          </a:effectLst>
        </p:spPr>
        <p:txBody>
          <a:bodyPr wrap="square" lIns="151124" tIns="151124" rIns="87116" bIns="125724" rtlCol="0" anchor="t">
            <a:normAutofit/>
          </a:bodyPr>
          <a:lstStyle/>
          <a:p>
            <a:pPr algn="l" indent="0" marL="0">
              <a:lnSpc>
                <a:spcPts val="1890"/>
              </a:lnSpc>
              <a:buNone/>
            </a:pPr>
            <a:r>
              <a:rPr lang="en-US" sz="1400" dirty="0">
                <a:solidFill>
                  <a:srgbClr val="12273F"/>
                </a:solidFill>
                <a:latin typeface="Inter" pitchFamily="34" charset="0"/>
                <a:ea typeface="Inter" pitchFamily="34" charset="-122"/>
                <a:cs typeface="Inter" pitchFamily="34" charset="-120"/>
              </a:rPr>
              <a:t>Here is the answer, a chart, and the SQL behind 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we will cover</a:t>
            </a:r>
            <a:endParaRPr lang="en-US" sz="3200" dirty="0"/>
          </a:p>
        </p:txBody>
      </p:sp>
      <p:sp>
        <p:nvSpPr>
          <p:cNvPr id="4" name="Shape 2"/>
          <p:cNvSpPr/>
          <p:nvPr/>
        </p:nvSpPr>
        <p:spPr>
          <a:xfrm>
            <a:off x="812800" y="2418707"/>
            <a:ext cx="10566400" cy="0"/>
          </a:xfrm>
          <a:prstGeom prst="line">
            <a:avLst/>
          </a:prstGeom>
          <a:noFill/>
          <a:ln w="12700">
            <a:solidFill>
              <a:srgbClr val="E7E9EC"/>
            </a:solidFill>
            <a:prstDash val="solid"/>
          </a:ln>
        </p:spPr>
      </p:sp>
      <p:sp>
        <p:nvSpPr>
          <p:cNvPr id="5" name="Text 3"/>
          <p:cNvSpPr/>
          <p:nvPr/>
        </p:nvSpPr>
        <p:spPr>
          <a:xfrm>
            <a:off x="812800" y="1810997"/>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1</a:t>
            </a:r>
            <a:endParaRPr lang="en-US" sz="2800" dirty="0"/>
          </a:p>
        </p:txBody>
      </p:sp>
      <p:sp>
        <p:nvSpPr>
          <p:cNvPr id="6" name="Text 4"/>
          <p:cNvSpPr/>
          <p:nvPr/>
        </p:nvSpPr>
        <p:spPr>
          <a:xfrm>
            <a:off x="1587500" y="1717032"/>
            <a:ext cx="8654444"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Why this matters</a:t>
            </a:r>
            <a:endParaRPr lang="en-US" sz="1800" dirty="0"/>
          </a:p>
        </p:txBody>
      </p:sp>
      <p:sp>
        <p:nvSpPr>
          <p:cNvPr id="7" name="Text 5"/>
          <p:cNvSpPr/>
          <p:nvPr/>
        </p:nvSpPr>
        <p:spPr>
          <a:xfrm>
            <a:off x="1587500" y="2029430"/>
            <a:ext cx="8654444"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The problem, where the data comes from, and why not a chatbot</a:t>
            </a:r>
            <a:endParaRPr lang="en-US" sz="1300" dirty="0"/>
          </a:p>
        </p:txBody>
      </p:sp>
      <p:sp>
        <p:nvSpPr>
          <p:cNvPr id="8" name="Text 6"/>
          <p:cNvSpPr/>
          <p:nvPr/>
        </p:nvSpPr>
        <p:spPr>
          <a:xfrm>
            <a:off x="10193073" y="1831332"/>
            <a:ext cx="1186127"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 1]</a:t>
            </a:r>
            <a:endParaRPr lang="en-US" sz="1200" dirty="0"/>
          </a:p>
        </p:txBody>
      </p:sp>
      <p:sp>
        <p:nvSpPr>
          <p:cNvPr id="9" name="Shape 7"/>
          <p:cNvSpPr/>
          <p:nvPr/>
        </p:nvSpPr>
        <p:spPr>
          <a:xfrm>
            <a:off x="812800" y="3279132"/>
            <a:ext cx="10566400" cy="0"/>
          </a:xfrm>
          <a:prstGeom prst="line">
            <a:avLst/>
          </a:prstGeom>
          <a:noFill/>
          <a:ln w="12700">
            <a:solidFill>
              <a:srgbClr val="E7E9EC"/>
            </a:solidFill>
            <a:prstDash val="solid"/>
          </a:ln>
        </p:spPr>
      </p:sp>
      <p:sp>
        <p:nvSpPr>
          <p:cNvPr id="10" name="Text 8"/>
          <p:cNvSpPr/>
          <p:nvPr/>
        </p:nvSpPr>
        <p:spPr>
          <a:xfrm>
            <a:off x="812800" y="2671422"/>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2</a:t>
            </a:r>
            <a:endParaRPr lang="en-US" sz="2800" dirty="0"/>
          </a:p>
        </p:txBody>
      </p:sp>
      <p:sp>
        <p:nvSpPr>
          <p:cNvPr id="11" name="Text 9"/>
          <p:cNvSpPr/>
          <p:nvPr/>
        </p:nvSpPr>
        <p:spPr>
          <a:xfrm>
            <a:off x="1587500" y="2577457"/>
            <a:ext cx="8654444"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How it works</a:t>
            </a:r>
            <a:endParaRPr lang="en-US" sz="1800" dirty="0"/>
          </a:p>
        </p:txBody>
      </p:sp>
      <p:sp>
        <p:nvSpPr>
          <p:cNvPr id="12" name="Text 10"/>
          <p:cNvSpPr/>
          <p:nvPr/>
        </p:nvSpPr>
        <p:spPr>
          <a:xfrm>
            <a:off x="1587500" y="2889855"/>
            <a:ext cx="8654444"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The data model, Genie configuration and Agent mode</a:t>
            </a:r>
            <a:endParaRPr lang="en-US" sz="1300" dirty="0"/>
          </a:p>
        </p:txBody>
      </p:sp>
      <p:sp>
        <p:nvSpPr>
          <p:cNvPr id="13" name="Text 11"/>
          <p:cNvSpPr/>
          <p:nvPr/>
        </p:nvSpPr>
        <p:spPr>
          <a:xfrm>
            <a:off x="10193073" y="2691757"/>
            <a:ext cx="1186127"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 1]</a:t>
            </a:r>
            <a:endParaRPr lang="en-US" sz="1200" dirty="0"/>
          </a:p>
        </p:txBody>
      </p:sp>
      <p:sp>
        <p:nvSpPr>
          <p:cNvPr id="14" name="Shape 12"/>
          <p:cNvSpPr/>
          <p:nvPr/>
        </p:nvSpPr>
        <p:spPr>
          <a:xfrm>
            <a:off x="812800" y="4139557"/>
            <a:ext cx="10566400" cy="0"/>
          </a:xfrm>
          <a:prstGeom prst="line">
            <a:avLst/>
          </a:prstGeom>
          <a:noFill/>
          <a:ln w="12700">
            <a:solidFill>
              <a:srgbClr val="E7E9EC"/>
            </a:solidFill>
            <a:prstDash val="solid"/>
          </a:ln>
        </p:spPr>
      </p:sp>
      <p:sp>
        <p:nvSpPr>
          <p:cNvPr id="15" name="Text 13"/>
          <p:cNvSpPr/>
          <p:nvPr/>
        </p:nvSpPr>
        <p:spPr>
          <a:xfrm>
            <a:off x="812800" y="3531847"/>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3</a:t>
            </a:r>
            <a:endParaRPr lang="en-US" sz="2800" dirty="0"/>
          </a:p>
        </p:txBody>
      </p:sp>
      <p:sp>
        <p:nvSpPr>
          <p:cNvPr id="16" name="Text 14"/>
          <p:cNvSpPr/>
          <p:nvPr/>
        </p:nvSpPr>
        <p:spPr>
          <a:xfrm>
            <a:off x="1587500" y="3437882"/>
            <a:ext cx="7478205"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Demo and scaling out</a:t>
            </a:r>
            <a:endParaRPr lang="en-US" sz="1800" dirty="0"/>
          </a:p>
        </p:txBody>
      </p:sp>
      <p:sp>
        <p:nvSpPr>
          <p:cNvPr id="17" name="Text 15"/>
          <p:cNvSpPr/>
          <p:nvPr/>
        </p:nvSpPr>
        <p:spPr>
          <a:xfrm>
            <a:off x="1587500" y="3750280"/>
            <a:ext cx="7478205"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One Genie agent live, then many agents behind one interface</a:t>
            </a:r>
            <a:endParaRPr lang="en-US" sz="1300" dirty="0"/>
          </a:p>
        </p:txBody>
      </p:sp>
      <p:sp>
        <p:nvSpPr>
          <p:cNvPr id="18" name="Text 16"/>
          <p:cNvSpPr/>
          <p:nvPr/>
        </p:nvSpPr>
        <p:spPr>
          <a:xfrm>
            <a:off x="9051093" y="3552182"/>
            <a:ext cx="2328107"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 1] + [Presenter 2]</a:t>
            </a:r>
            <a:endParaRPr lang="en-US" sz="1200" dirty="0"/>
          </a:p>
        </p:txBody>
      </p:sp>
      <p:sp>
        <p:nvSpPr>
          <p:cNvPr id="19" name="Text 17"/>
          <p:cNvSpPr/>
          <p:nvPr/>
        </p:nvSpPr>
        <p:spPr>
          <a:xfrm>
            <a:off x="812800" y="4392272"/>
            <a:ext cx="6223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2273F"/>
                </a:solidFill>
                <a:latin typeface="Outfit" pitchFamily="34" charset="0"/>
                <a:ea typeface="Outfit" pitchFamily="34" charset="-122"/>
                <a:cs typeface="Outfit" pitchFamily="34" charset="-120"/>
              </a:rPr>
              <a:t>4</a:t>
            </a:r>
            <a:endParaRPr lang="en-US" sz="2800" dirty="0"/>
          </a:p>
        </p:txBody>
      </p:sp>
      <p:sp>
        <p:nvSpPr>
          <p:cNvPr id="20" name="Text 18"/>
          <p:cNvSpPr/>
          <p:nvPr/>
        </p:nvSpPr>
        <p:spPr>
          <a:xfrm>
            <a:off x="1587500" y="4298307"/>
            <a:ext cx="8760338" cy="29969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73F"/>
                </a:solidFill>
                <a:latin typeface="Outfit" pitchFamily="34" charset="0"/>
                <a:ea typeface="Outfit" pitchFamily="34" charset="-122"/>
                <a:cs typeface="Outfit" pitchFamily="34" charset="-120"/>
              </a:rPr>
              <a:t>Trust and next steps</a:t>
            </a:r>
            <a:endParaRPr lang="en-US" sz="1800" dirty="0"/>
          </a:p>
        </p:txBody>
      </p:sp>
      <p:sp>
        <p:nvSpPr>
          <p:cNvPr id="21" name="Text 19"/>
          <p:cNvSpPr/>
          <p:nvPr/>
        </p:nvSpPr>
        <p:spPr>
          <a:xfrm>
            <a:off x="1587500" y="4610705"/>
            <a:ext cx="8760338"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Risks, benchmarks, feedback and roadmap</a:t>
            </a:r>
            <a:endParaRPr lang="en-US" sz="1300" dirty="0"/>
          </a:p>
        </p:txBody>
      </p:sp>
      <p:sp>
        <p:nvSpPr>
          <p:cNvPr id="22" name="Text 20"/>
          <p:cNvSpPr/>
          <p:nvPr/>
        </p:nvSpPr>
        <p:spPr>
          <a:xfrm>
            <a:off x="10295882" y="4412607"/>
            <a:ext cx="1083318" cy="314930"/>
          </a:xfrm>
          <a:prstGeom prst="roundRect">
            <a:avLst>
              <a:gd name="adj" fmla="val 50000"/>
            </a:avLst>
          </a:pr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[Presenter]</a:t>
            </a:r>
            <a:endParaRPr lang="en-US" sz="1200" dirty="0"/>
          </a:p>
        </p:txBody>
      </p:sp>
      <p:sp>
        <p:nvSpPr>
          <p:cNvPr id="23" name="Text 21"/>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9"/>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1 OF 4</a:t>
            </a:r>
            <a:endParaRPr lang="en-US" sz="1300" dirty="0"/>
          </a:p>
        </p:txBody>
      </p:sp>
      <p:sp>
        <p:nvSpPr>
          <p:cNvPr id="5" name="Text 3"/>
          <p:cNvSpPr/>
          <p:nvPr>
            <p:ph type="title"/>
          </p:nvPr>
        </p:nvSpPr>
        <p:spPr>
          <a:xfrm>
            <a:off x="812800" y="4968270"/>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Why this matters</a:t>
            </a:r>
            <a:endParaRPr lang="en-US" sz="4800" dirty="0"/>
          </a:p>
        </p:txBody>
      </p:sp>
      <p:sp>
        <p:nvSpPr>
          <p:cNvPr id="6" name="Text 4"/>
          <p:cNvSpPr/>
          <p:nvPr/>
        </p:nvSpPr>
        <p:spPr>
          <a:xfrm>
            <a:off x="812800" y="5760735"/>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The problem, where the data comes from, and why not a chatbot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Lots of information, lots of questions, no curated way in</a:t>
            </a:r>
            <a:endParaRPr lang="en-US" sz="3200" dirty="0"/>
          </a:p>
        </p:txBody>
      </p:sp>
      <p:sp>
        <p:nvSpPr>
          <p:cNvPr id="4" name="Shape 2"/>
          <p:cNvSpPr/>
          <p:nvPr/>
        </p:nvSpPr>
        <p:spPr>
          <a:xfrm>
            <a:off x="815975" y="1542408"/>
            <a:ext cx="3076197" cy="2724641"/>
          </a:xfrm>
          <a:prstGeom prst="roundRect">
            <a:avLst>
              <a:gd name="adj" fmla="val 4545"/>
            </a:avLst>
          </a:prstGeom>
          <a:solidFill>
            <a:srgbClr val="F6F6F6"/>
          </a:solidFill>
          <a:ln w="6350">
            <a:solidFill>
              <a:srgbClr val="E7E9EC"/>
            </a:solidFill>
            <a:prstDash val="solid"/>
          </a:ln>
        </p:spPr>
      </p:sp>
      <p:sp>
        <p:nvSpPr>
          <p:cNvPr id="5" name="Text 3"/>
          <p:cNvSpPr/>
          <p:nvPr/>
        </p:nvSpPr>
        <p:spPr>
          <a:xfrm>
            <a:off x="1046238" y="1772672"/>
            <a:ext cx="2694141"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SUPERVISORS RECEIVE</a:t>
            </a:r>
            <a:endParaRPr lang="en-US" sz="1200" dirty="0"/>
          </a:p>
        </p:txBody>
      </p:sp>
      <p:sp>
        <p:nvSpPr>
          <p:cNvPr id="6" name="Text 4"/>
          <p:cNvSpPr/>
          <p:nvPr/>
        </p:nvSpPr>
        <p:spPr>
          <a:xfrm>
            <a:off x="1046238" y="2087601"/>
            <a:ext cx="2694141"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Lots of information</a:t>
            </a:r>
            <a:endParaRPr lang="en-US" sz="1900" dirty="0"/>
          </a:p>
        </p:txBody>
      </p:sp>
      <p:sp>
        <p:nvSpPr>
          <p:cNvPr id="7" name="Text 5"/>
          <p:cNvSpPr/>
          <p:nvPr/>
        </p:nvSpPr>
        <p:spPr>
          <a:xfrm>
            <a:off x="1046238" y="2478731"/>
            <a:ext cx="2694141"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MI packs and other submissions, from many firms, every period, across every risk stripe.</a:t>
            </a:r>
            <a:endParaRPr lang="en-US" sz="1300" dirty="0"/>
          </a:p>
        </p:txBody>
      </p:sp>
      <p:sp>
        <p:nvSpPr>
          <p:cNvPr id="8" name="Text 6"/>
          <p:cNvSpPr/>
          <p:nvPr/>
        </p:nvSpPr>
        <p:spPr>
          <a:xfrm>
            <a:off x="1046238" y="3273727"/>
            <a:ext cx="676993" cy="289530"/>
          </a:xfrm>
          <a:custGeom>
            <a:avLst/>
            <a:gdLst/>
            <a:ahLst/>
            <a:cxnLst/>
            <a:rect l="l" t="t" r="r" b="b"/>
            <a:pathLst>
              <a:path w="676993" h="289530">
                <a:moveTo>
                  <a:pt x="144765" y="0"/>
                </a:moveTo>
                <a:lnTo>
                  <a:pt x="532228" y="0"/>
                </a:lnTo>
                <a:arcTo hR="144765" wR="144765" stAng="16200000" swAng="5400000"/>
                <a:lnTo>
                  <a:pt x="676993"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Credit</a:t>
            </a:r>
            <a:endParaRPr lang="en-US" sz="1200" dirty="0"/>
          </a:p>
        </p:txBody>
      </p:sp>
      <p:sp>
        <p:nvSpPr>
          <p:cNvPr id="9" name="Text 7"/>
          <p:cNvSpPr/>
          <p:nvPr/>
        </p:nvSpPr>
        <p:spPr>
          <a:xfrm>
            <a:off x="1786731" y="3273727"/>
            <a:ext cx="864696" cy="289530"/>
          </a:xfrm>
          <a:custGeom>
            <a:avLst/>
            <a:gdLst/>
            <a:ahLst/>
            <a:cxnLst/>
            <a:rect l="l" t="t" r="r" b="b"/>
            <a:pathLst>
              <a:path w="864696" h="289530">
                <a:moveTo>
                  <a:pt x="144765" y="0"/>
                </a:moveTo>
                <a:lnTo>
                  <a:pt x="719931" y="0"/>
                </a:lnTo>
                <a:arcTo hR="144765" wR="144765" stAng="16200000" swAng="5400000"/>
                <a:lnTo>
                  <a:pt x="864696"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Liquidity</a:t>
            </a:r>
            <a:endParaRPr lang="en-US" sz="1200" dirty="0"/>
          </a:p>
        </p:txBody>
      </p:sp>
      <p:sp>
        <p:nvSpPr>
          <p:cNvPr id="10" name="Text 8"/>
          <p:cNvSpPr/>
          <p:nvPr/>
        </p:nvSpPr>
        <p:spPr>
          <a:xfrm>
            <a:off x="2714928" y="3273727"/>
            <a:ext cx="745331" cy="289530"/>
          </a:xfrm>
          <a:custGeom>
            <a:avLst/>
            <a:gdLst/>
            <a:ahLst/>
            <a:cxnLst/>
            <a:rect l="l" t="t" r="r" b="b"/>
            <a:pathLst>
              <a:path w="745331" h="289530">
                <a:moveTo>
                  <a:pt x="144765" y="0"/>
                </a:moveTo>
                <a:lnTo>
                  <a:pt x="600566" y="0"/>
                </a:lnTo>
                <a:arcTo hR="144765" wR="144765" stAng="16200000" swAng="5400000"/>
                <a:lnTo>
                  <a:pt x="745331"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Capital</a:t>
            </a:r>
            <a:endParaRPr lang="en-US" sz="1200" dirty="0"/>
          </a:p>
        </p:txBody>
      </p:sp>
      <p:sp>
        <p:nvSpPr>
          <p:cNvPr id="11" name="Text 9"/>
          <p:cNvSpPr/>
          <p:nvPr/>
        </p:nvSpPr>
        <p:spPr>
          <a:xfrm>
            <a:off x="1046238" y="3626757"/>
            <a:ext cx="746843" cy="289530"/>
          </a:xfrm>
          <a:custGeom>
            <a:avLst/>
            <a:gdLst/>
            <a:ahLst/>
            <a:cxnLst/>
            <a:rect l="l" t="t" r="r" b="b"/>
            <a:pathLst>
              <a:path w="746843" h="289530">
                <a:moveTo>
                  <a:pt x="144765" y="0"/>
                </a:moveTo>
                <a:lnTo>
                  <a:pt x="602078" y="0"/>
                </a:lnTo>
                <a:arcTo hR="144765" wR="144765" stAng="16200000" swAng="5400000"/>
                <a:lnTo>
                  <a:pt x="746843"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Market</a:t>
            </a:r>
            <a:endParaRPr lang="en-US" sz="1200" dirty="0"/>
          </a:p>
        </p:txBody>
      </p:sp>
      <p:sp>
        <p:nvSpPr>
          <p:cNvPr id="12" name="Text 10"/>
          <p:cNvSpPr/>
          <p:nvPr/>
        </p:nvSpPr>
        <p:spPr>
          <a:xfrm>
            <a:off x="1856581" y="3626757"/>
            <a:ext cx="1084716" cy="289530"/>
          </a:xfrm>
          <a:custGeom>
            <a:avLst/>
            <a:gdLst/>
            <a:ahLst/>
            <a:cxnLst/>
            <a:rect l="l" t="t" r="r" b="b"/>
            <a:pathLst>
              <a:path w="1084716" h="289530">
                <a:moveTo>
                  <a:pt x="144765" y="0"/>
                </a:moveTo>
                <a:lnTo>
                  <a:pt x="939951" y="0"/>
                </a:lnTo>
                <a:arcTo hR="144765" wR="144765" stAng="16200000" swAng="5400000"/>
                <a:lnTo>
                  <a:pt x="1084716"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Operational</a:t>
            </a:r>
            <a:endParaRPr lang="en-US" sz="1200" dirty="0"/>
          </a:p>
        </p:txBody>
      </p:sp>
      <p:pic>
        <p:nvPicPr>
          <p:cNvPr id="13" name="Image 0" descr="arrow-right">    </p:cNvPr>
          <p:cNvPicPr>
            <a:picLocks noChangeAspect="1"/>
          </p:cNvPicPr>
          <p:nvPr/>
        </p:nvPicPr>
        <p:blipFill>
          <a:blip r:embed="rId1"/>
          <a:srcRect l="0" r="0" t="0" b="0"/>
          <a:stretch/>
        </p:blipFill>
        <p:spPr>
          <a:xfrm>
            <a:off x="4022347" y="2834860"/>
            <a:ext cx="279400" cy="139700"/>
          </a:xfrm>
          <a:prstGeom prst="rect">
            <a:avLst/>
          </a:prstGeom>
        </p:spPr>
      </p:pic>
      <p:sp>
        <p:nvSpPr>
          <p:cNvPr id="14" name="Shape 11"/>
          <p:cNvSpPr/>
          <p:nvPr/>
        </p:nvSpPr>
        <p:spPr>
          <a:xfrm>
            <a:off x="4431922" y="1542408"/>
            <a:ext cx="3337794" cy="2724641"/>
          </a:xfrm>
          <a:prstGeom prst="roundRect">
            <a:avLst>
              <a:gd name="adj" fmla="val 4545"/>
            </a:avLst>
          </a:prstGeom>
          <a:solidFill>
            <a:srgbClr val="F6F6F6"/>
          </a:solidFill>
          <a:ln w="6350">
            <a:solidFill>
              <a:srgbClr val="E7E9EC"/>
            </a:solidFill>
            <a:prstDash val="solid"/>
          </a:ln>
        </p:spPr>
      </p:sp>
      <p:sp>
        <p:nvSpPr>
          <p:cNvPr id="15" name="Text 12"/>
          <p:cNvSpPr/>
          <p:nvPr/>
        </p:nvSpPr>
        <p:spPr>
          <a:xfrm>
            <a:off x="4662185" y="1772672"/>
            <a:ext cx="296358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SUPERVISORS NEED TO KNOW</a:t>
            </a:r>
            <a:endParaRPr lang="en-US" sz="1200" dirty="0"/>
          </a:p>
        </p:txBody>
      </p:sp>
      <p:sp>
        <p:nvSpPr>
          <p:cNvPr id="16" name="Text 13"/>
          <p:cNvSpPr/>
          <p:nvPr/>
        </p:nvSpPr>
        <p:spPr>
          <a:xfrm>
            <a:off x="4662185" y="2074901"/>
            <a:ext cx="2963586"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Lots of questions</a:t>
            </a:r>
            <a:endParaRPr lang="en-US" sz="1900" dirty="0"/>
          </a:p>
        </p:txBody>
      </p:sp>
      <p:sp>
        <p:nvSpPr>
          <p:cNvPr id="17" name="Text 14"/>
          <p:cNvSpPr/>
          <p:nvPr/>
        </p:nvSpPr>
        <p:spPr>
          <a:xfrm>
            <a:off x="4665360" y="2456506"/>
            <a:ext cx="2870918" cy="361459"/>
          </a:xfrm>
          <a:prstGeom prst="roundRect">
            <a:avLst>
              <a:gd name="adj" fmla="val 16689"/>
            </a:avLst>
          </a:prstGeom>
          <a:solidFill>
            <a:srgbClr val="FFFFFF"/>
          </a:solidFill>
          <a:ln w="6350">
            <a:solidFill>
              <a:srgbClr val="E7E9EC"/>
            </a:solidFill>
            <a:prstDash val="solid"/>
          </a:ln>
        </p:spPr>
        <p:txBody>
          <a:bodyPr wrap="square" lIns="98295" tIns="47495" rIns="19125" bIns="22095"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Where does the firm stand?</a:t>
            </a:r>
            <a:endParaRPr lang="en-US" sz="1300" dirty="0"/>
          </a:p>
        </p:txBody>
      </p:sp>
      <p:sp>
        <p:nvSpPr>
          <p:cNvPr id="18" name="Text 15"/>
          <p:cNvSpPr/>
          <p:nvPr/>
        </p:nvSpPr>
        <p:spPr>
          <a:xfrm>
            <a:off x="4665360" y="2913214"/>
            <a:ext cx="2870918" cy="361459"/>
          </a:xfrm>
          <a:prstGeom prst="roundRect">
            <a:avLst>
              <a:gd name="adj" fmla="val 16689"/>
            </a:avLst>
          </a:prstGeom>
          <a:solidFill>
            <a:srgbClr val="FFFFFF"/>
          </a:solidFill>
          <a:ln w="6350">
            <a:solidFill>
              <a:srgbClr val="E7E9EC"/>
            </a:solidFill>
            <a:prstDash val="solid"/>
          </a:ln>
        </p:spPr>
        <p:txBody>
          <a:bodyPr wrap="square" lIns="98295" tIns="47495" rIns="19125" bIns="22095"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How does it compare?</a:t>
            </a:r>
            <a:endParaRPr lang="en-US" sz="1300" dirty="0"/>
          </a:p>
        </p:txBody>
      </p:sp>
      <p:sp>
        <p:nvSpPr>
          <p:cNvPr id="19" name="Text 16"/>
          <p:cNvSpPr/>
          <p:nvPr/>
        </p:nvSpPr>
        <p:spPr>
          <a:xfrm>
            <a:off x="4665360" y="3369923"/>
            <a:ext cx="2870918" cy="361459"/>
          </a:xfrm>
          <a:prstGeom prst="roundRect">
            <a:avLst>
              <a:gd name="adj" fmla="val 16689"/>
            </a:avLst>
          </a:prstGeom>
          <a:solidFill>
            <a:srgbClr val="FFFFFF"/>
          </a:solidFill>
          <a:ln w="6350">
            <a:solidFill>
              <a:srgbClr val="E7E9EC"/>
            </a:solidFill>
            <a:prstDash val="solid"/>
          </a:ln>
        </p:spPr>
        <p:txBody>
          <a:bodyPr wrap="square" lIns="98295" tIns="47495" rIns="19125" bIns="22095"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What changed, and why?</a:t>
            </a:r>
            <a:endParaRPr lang="en-US" sz="1300" dirty="0"/>
          </a:p>
        </p:txBody>
      </p:sp>
      <p:sp>
        <p:nvSpPr>
          <p:cNvPr id="20" name="Text 17"/>
          <p:cNvSpPr/>
          <p:nvPr/>
        </p:nvSpPr>
        <p:spPr>
          <a:xfrm>
            <a:off x="4662185" y="3823457"/>
            <a:ext cx="296358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Often at short notice.</a:t>
            </a:r>
            <a:endParaRPr lang="en-US" sz="1200" dirty="0"/>
          </a:p>
        </p:txBody>
      </p:sp>
      <p:pic>
        <p:nvPicPr>
          <p:cNvPr id="21" name="Image 1" descr="arrow-right">    </p:cNvPr>
          <p:cNvPicPr>
            <a:picLocks noChangeAspect="1"/>
          </p:cNvPicPr>
          <p:nvPr/>
        </p:nvPicPr>
        <p:blipFill>
          <a:blip r:embed="rId2"/>
          <a:srcRect l="0" r="0" t="0" b="0"/>
          <a:stretch/>
        </p:blipFill>
        <p:spPr>
          <a:xfrm>
            <a:off x="7899891" y="2834860"/>
            <a:ext cx="279400" cy="139700"/>
          </a:xfrm>
          <a:prstGeom prst="rect">
            <a:avLst/>
          </a:prstGeom>
        </p:spPr>
      </p:pic>
      <p:sp>
        <p:nvSpPr>
          <p:cNvPr id="22" name="Shape 18"/>
          <p:cNvSpPr/>
          <p:nvPr/>
        </p:nvSpPr>
        <p:spPr>
          <a:xfrm>
            <a:off x="8306291" y="1539233"/>
            <a:ext cx="3072909" cy="2730991"/>
          </a:xfrm>
          <a:prstGeom prst="roundRect">
            <a:avLst>
              <a:gd name="adj" fmla="val 4650"/>
            </a:avLst>
          </a:prstGeom>
          <a:solidFill>
            <a:srgbClr val="12273F"/>
          </a:solidFill>
          <a:ln/>
        </p:spPr>
      </p:sp>
      <p:sp>
        <p:nvSpPr>
          <p:cNvPr id="23" name="Text 19"/>
          <p:cNvSpPr/>
          <p:nvPr/>
        </p:nvSpPr>
        <p:spPr>
          <a:xfrm>
            <a:off x="8534891" y="1767833"/>
            <a:ext cx="2694180"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7300"/>
                </a:solidFill>
                <a:latin typeface="Inter" pitchFamily="34" charset="0"/>
                <a:ea typeface="Inter" pitchFamily="34" charset="-122"/>
                <a:cs typeface="Inter" pitchFamily="34" charset="-120"/>
              </a:rPr>
              <a:t>WHAT IS MISSING</a:t>
            </a:r>
            <a:endParaRPr lang="en-US" sz="1200" dirty="0"/>
          </a:p>
        </p:txBody>
      </p:sp>
      <p:sp>
        <p:nvSpPr>
          <p:cNvPr id="24" name="Text 20"/>
          <p:cNvSpPr/>
          <p:nvPr/>
        </p:nvSpPr>
        <p:spPr>
          <a:xfrm>
            <a:off x="8534891" y="2082763"/>
            <a:ext cx="2694180"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FFFFF"/>
                </a:solidFill>
                <a:latin typeface="Outfit" pitchFamily="34" charset="0"/>
                <a:ea typeface="Outfit" pitchFamily="34" charset="-122"/>
                <a:cs typeface="Outfit" pitchFamily="34" charset="-120"/>
              </a:rPr>
              <a:t>A curated way in</a:t>
            </a:r>
            <a:endParaRPr lang="en-US" sz="1900" dirty="0"/>
          </a:p>
        </p:txBody>
      </p:sp>
      <p:sp>
        <p:nvSpPr>
          <p:cNvPr id="25" name="Text 21"/>
          <p:cNvSpPr/>
          <p:nvPr/>
        </p:nvSpPr>
        <p:spPr>
          <a:xfrm>
            <a:off x="8534891" y="2473892"/>
            <a:ext cx="2694180" cy="9499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Information is organised by firm and document, not by risk stripe. One credit risk question can mean searching pack after pack.</a:t>
            </a:r>
            <a:endParaRPr lang="en-US" sz="1300" dirty="0"/>
          </a:p>
        </p:txBody>
      </p:sp>
      <p:sp>
        <p:nvSpPr>
          <p:cNvPr id="26" name="Shape 22"/>
          <p:cNvSpPr/>
          <p:nvPr/>
        </p:nvSpPr>
        <p:spPr>
          <a:xfrm>
            <a:off x="812800" y="4549625"/>
            <a:ext cx="10566400" cy="889000"/>
          </a:xfrm>
          <a:prstGeom prst="roundRect">
            <a:avLst>
              <a:gd name="adj" fmla="val 14286"/>
            </a:avLst>
          </a:prstGeom>
          <a:solidFill>
            <a:srgbClr val="CEF5F5"/>
          </a:solidFill>
          <a:ln/>
        </p:spPr>
      </p:sp>
      <p:pic>
        <p:nvPicPr>
          <p:cNvPr id="27" name="Image 2" descr="Lightbulb">    </p:cNvPr>
          <p:cNvPicPr>
            <a:picLocks noChangeAspect="1"/>
          </p:cNvPicPr>
          <p:nvPr/>
        </p:nvPicPr>
        <p:blipFill>
          <a:blip r:embed="rId3"/>
          <a:srcRect l="0" r="0" t="0" b="0"/>
          <a:stretch/>
        </p:blipFill>
        <p:spPr>
          <a:xfrm>
            <a:off x="1066800" y="4829025"/>
            <a:ext cx="330200" cy="330200"/>
          </a:xfrm>
          <a:prstGeom prst="rect">
            <a:avLst/>
          </a:prstGeom>
        </p:spPr>
      </p:pic>
      <p:sp>
        <p:nvSpPr>
          <p:cNvPr id="28" name="Text 23"/>
          <p:cNvSpPr/>
          <p:nvPr/>
        </p:nvSpPr>
        <p:spPr>
          <a:xfrm>
            <a:off x="1574800" y="4727425"/>
            <a:ext cx="98369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273F"/>
                </a:solidFill>
                <a:latin typeface="Inter" pitchFamily="34" charset="0"/>
                <a:ea typeface="Inter" pitchFamily="34" charset="-122"/>
                <a:cs typeface="Inter" pitchFamily="34" charset="-120"/>
              </a:rPr>
              <a:t>Our aim: </a:t>
            </a:r>
            <a:r>
              <a:rPr lang="en-US" sz="1500" b="1" dirty="0">
                <a:solidFill>
                  <a:srgbClr val="12273F"/>
                </a:solidFill>
                <a:latin typeface="Inter" pitchFamily="34" charset="0"/>
                <a:ea typeface="Inter" pitchFamily="34" charset="-122"/>
                <a:cs typeface="Inter" pitchFamily="34" charset="-120"/>
              </a:rPr>
              <a:t>natural language access to supervisory intelligence</a:t>
            </a:r>
            <a:r>
              <a:rPr lang="en-US" sz="1500" dirty="0">
                <a:solidFill>
                  <a:srgbClr val="12273F"/>
                </a:solidFill>
                <a:latin typeface="Inter" pitchFamily="34" charset="0"/>
                <a:ea typeface="Inter" pitchFamily="34" charset="-122"/>
                <a:cs typeface="Inter" pitchFamily="34" charset="-120"/>
              </a:rPr>
              <a:t>, curated by risk stripe and available at the point of need.</a:t>
            </a:r>
            <a:endParaRPr lang="en-US" sz="1500" dirty="0"/>
          </a:p>
        </p:txBody>
      </p:sp>
      <p:sp>
        <p:nvSpPr>
          <p:cNvPr id="29" name="Text 24"/>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At the point of need: credit risk questions</a:t>
            </a:r>
            <a:endParaRPr lang="en-US" sz="3200" dirty="0"/>
          </a:p>
        </p:txBody>
      </p:sp>
      <p:sp>
        <p:nvSpPr>
          <p:cNvPr id="4" name="Text 2"/>
          <p:cNvSpPr/>
          <p:nvPr/>
        </p:nvSpPr>
        <p:spPr>
          <a:xfrm>
            <a:off x="812800" y="1463033"/>
            <a:ext cx="10883392"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15265"/>
                </a:solidFill>
                <a:latin typeface="Inter" pitchFamily="34" charset="0"/>
                <a:ea typeface="Inter" pitchFamily="34" charset="-122"/>
                <a:cs typeface="Inter" pitchFamily="34" charset="-120"/>
              </a:rPr>
              <a:t>Example questions a credit risk supervisor might ask, and how they get answered today</a:t>
            </a:r>
            <a:endParaRPr lang="en-US" sz="1400" dirty="0"/>
          </a:p>
        </p:txBody>
      </p:sp>
      <p:sp>
        <p:nvSpPr>
          <p:cNvPr id="5" name="Shape 3"/>
          <p:cNvSpPr/>
          <p:nvPr/>
        </p:nvSpPr>
        <p:spPr>
          <a:xfrm>
            <a:off x="812800" y="1915130"/>
            <a:ext cx="10566400" cy="2347157"/>
          </a:xfrm>
          <a:prstGeom prst="rect">
            <a:avLst/>
          </a:prstGeom>
          <a:solidFill>
            <a:srgbClr val="FFFFFF"/>
          </a:solidFill>
          <a:ln/>
        </p:spPr>
      </p:sp>
      <p:sp>
        <p:nvSpPr>
          <p:cNvPr id="6" name="Shape 4"/>
          <p:cNvSpPr/>
          <p:nvPr/>
        </p:nvSpPr>
        <p:spPr>
          <a:xfrm>
            <a:off x="11376025" y="1915130"/>
            <a:ext cx="0" cy="2347157"/>
          </a:xfrm>
          <a:prstGeom prst="line">
            <a:avLst/>
          </a:prstGeom>
          <a:noFill/>
          <a:ln w="6350">
            <a:solidFill>
              <a:srgbClr val="E7E9EC"/>
            </a:solidFill>
            <a:prstDash val="solid"/>
          </a:ln>
        </p:spPr>
      </p:sp>
      <p:sp>
        <p:nvSpPr>
          <p:cNvPr id="7" name="Shape 5"/>
          <p:cNvSpPr/>
          <p:nvPr/>
        </p:nvSpPr>
        <p:spPr>
          <a:xfrm>
            <a:off x="812800" y="4259111"/>
            <a:ext cx="10566400" cy="0"/>
          </a:xfrm>
          <a:prstGeom prst="line">
            <a:avLst/>
          </a:prstGeom>
          <a:noFill/>
          <a:ln w="6350">
            <a:solidFill>
              <a:srgbClr val="E7E9EC"/>
            </a:solidFill>
            <a:prstDash val="solid"/>
          </a:ln>
        </p:spPr>
      </p:sp>
      <p:sp>
        <p:nvSpPr>
          <p:cNvPr id="8" name="Shape 6"/>
          <p:cNvSpPr/>
          <p:nvPr/>
        </p:nvSpPr>
        <p:spPr>
          <a:xfrm>
            <a:off x="812800" y="1921177"/>
            <a:ext cx="10566400" cy="0"/>
          </a:xfrm>
          <a:prstGeom prst="line">
            <a:avLst/>
          </a:prstGeom>
          <a:noFill/>
          <a:ln w="12095">
            <a:solidFill>
              <a:srgbClr val="141413">
                <a:alpha val="22000"/>
              </a:srgbClr>
            </a:solidFill>
            <a:prstDash val="solid"/>
          </a:ln>
        </p:spPr>
      </p:sp>
      <p:sp>
        <p:nvSpPr>
          <p:cNvPr id="9" name="Shape 7"/>
          <p:cNvSpPr/>
          <p:nvPr/>
        </p:nvSpPr>
        <p:spPr>
          <a:xfrm>
            <a:off x="818848" y="1915130"/>
            <a:ext cx="0" cy="2347157"/>
          </a:xfrm>
          <a:prstGeom prst="line">
            <a:avLst/>
          </a:prstGeom>
          <a:noFill/>
          <a:ln w="12095">
            <a:solidFill>
              <a:srgbClr val="141413">
                <a:alpha val="22000"/>
              </a:srgbClr>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51895" y="2016125"/>
          <a:ext cx="10295467" cy="2152423"/>
        </p:xfrm>
        <a:graphic>
          <a:graphicData uri="http://schemas.openxmlformats.org/drawingml/2006/table">
            <a:tbl>
              <a:tblPr/>
              <a:tblGrid>
                <a:gridCol w="1544320"/>
                <a:gridCol w="5147733"/>
                <a:gridCol w="3603413"/>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Type</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Example question</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Answered today by</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Look up</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What was [Firm A]'s NPL ratio at [Q2 2026]?</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Finding the right pack and page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Compare</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How does [Firm A]'s Stage 3 coverage compare with peers?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Copying figures from several packs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Trend</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How have [Firm A]'s arrears moved over [eight] quarters?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Collating past packs by hand</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Screen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Which firms' loss provisions rose most this quarter?</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 data request to an analytics team</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Explain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Why has [Firm B]'s impairment charge increased?</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Analyst time and expert judgement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8"/>
          <p:cNvSpPr/>
          <p:nvPr/>
        </p:nvSpPr>
        <p:spPr>
          <a:xfrm>
            <a:off x="812800" y="4465486"/>
            <a:ext cx="10566400" cy="673100"/>
          </a:xfrm>
          <a:prstGeom prst="roundRect">
            <a:avLst>
              <a:gd name="adj" fmla="val 18868"/>
            </a:avLst>
          </a:prstGeom>
          <a:solidFill>
            <a:srgbClr val="12273F"/>
          </a:solidFill>
          <a:ln/>
        </p:spPr>
        <p:txBody>
          <a:bodyPr wrap="square" lIns="242203" tIns="166003" rIns="0" bIns="140603" rtlCol="0" anchor="t">
            <a:normAutofit/>
          </a:bodyPr>
          <a:lstStyle/>
          <a:p>
            <a:pPr algn="l" indent="0" marL="0">
              <a:lnSpc>
                <a:spcPts val="2100"/>
              </a:lnSpc>
              <a:buNone/>
            </a:pPr>
            <a:r>
              <a:rPr lang="en-US" sz="1500" dirty="0">
                <a:solidFill>
                  <a:srgbClr val="FFFFFF"/>
                </a:solidFill>
                <a:latin typeface="Inter" pitchFamily="34" charset="0"/>
                <a:ea typeface="Inter" pitchFamily="34" charset="-122"/>
                <a:cs typeface="Inter" pitchFamily="34" charset="-120"/>
              </a:rPr>
              <a:t>Most are </a:t>
            </a:r>
            <a:r>
              <a:rPr lang="en-US" sz="1500" dirty="0">
                <a:solidFill>
                  <a:srgbClr val="3CD7D9"/>
                </a:solidFill>
                <a:latin typeface="Inter" pitchFamily="34" charset="0"/>
                <a:ea typeface="Inter" pitchFamily="34" charset="-122"/>
                <a:cs typeface="Inter" pitchFamily="34" charset="-120"/>
              </a:rPr>
              <a:t>quantitative</a:t>
            </a:r>
            <a:r>
              <a:rPr lang="en-US" sz="1500" dirty="0">
                <a:solidFill>
                  <a:srgbClr val="FFFFFF"/>
                </a:solidFill>
                <a:latin typeface="Inter" pitchFamily="34" charset="0"/>
                <a:ea typeface="Inter" pitchFamily="34" charset="-122"/>
                <a:cs typeface="Inter" pitchFamily="34" charset="-120"/>
              </a:rPr>
              <a:t>, span </a:t>
            </a:r>
            <a:r>
              <a:rPr lang="en-US" sz="1500" dirty="0">
                <a:solidFill>
                  <a:srgbClr val="3CD7D9"/>
                </a:solidFill>
                <a:latin typeface="Inter" pitchFamily="34" charset="0"/>
                <a:ea typeface="Inter" pitchFamily="34" charset="-122"/>
                <a:cs typeface="Inter" pitchFamily="34" charset="-120"/>
              </a:rPr>
              <a:t>many firms and periods</a:t>
            </a:r>
            <a:r>
              <a:rPr lang="en-US" sz="1500" dirty="0">
                <a:solidFill>
                  <a:srgbClr val="FFFFFF"/>
                </a:solidFill>
                <a:latin typeface="Inter" pitchFamily="34" charset="0"/>
                <a:ea typeface="Inter" pitchFamily="34" charset="-122"/>
                <a:cs typeface="Inter" pitchFamily="34" charset="-120"/>
              </a:rPr>
              <a:t>, and are needed </a:t>
            </a:r>
            <a:r>
              <a:rPr lang="en-US" sz="1500" dirty="0">
                <a:solidFill>
                  <a:srgbClr val="3CD7D9"/>
                </a:solidFill>
                <a:latin typeface="Inter" pitchFamily="34" charset="0"/>
                <a:ea typeface="Inter" pitchFamily="34" charset="-122"/>
                <a:cs typeface="Inter" pitchFamily="34" charset="-120"/>
              </a:rPr>
              <a:t>now</a:t>
            </a:r>
            <a:r>
              <a:rPr lang="en-US" sz="1500" dirty="0">
                <a:solidFill>
                  <a:srgbClr val="FFFFFF"/>
                </a:solidFill>
                <a:latin typeface="Inter" pitchFamily="34" charset="0"/>
                <a:ea typeface="Inter" pitchFamily="34" charset="-122"/>
                <a:cs typeface="Inter" pitchFamily="34" charset="-120"/>
              </a:rPr>
              <a:t>.</a:t>
            </a:r>
            <a:endParaRPr lang="en-US" sz="1500" dirty="0"/>
          </a:p>
        </p:txBody>
      </p:sp>
      <p:sp>
        <p:nvSpPr>
          <p:cNvPr id="12" name="Text 9"/>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"talk to your data" means</a:t>
            </a:r>
            <a:endParaRPr lang="en-US" sz="3200" dirty="0"/>
          </a:p>
        </p:txBody>
      </p:sp>
      <p:sp>
        <p:nvSpPr>
          <p:cNvPr id="4" name="Shape 2"/>
          <p:cNvSpPr/>
          <p:nvPr/>
        </p:nvSpPr>
        <p:spPr>
          <a:xfrm>
            <a:off x="815975" y="1618608"/>
            <a:ext cx="2216150" cy="2233386"/>
          </a:xfrm>
          <a:prstGeom prst="roundRect">
            <a:avLst>
              <a:gd name="adj" fmla="val 5587"/>
            </a:avLst>
          </a:prstGeom>
          <a:solidFill>
            <a:srgbClr val="F6F6F6"/>
          </a:solidFill>
          <a:ln w="6350">
            <a:solidFill>
              <a:srgbClr val="E7E9EC"/>
            </a:solidFill>
            <a:prstDash val="solid"/>
          </a:ln>
        </p:spPr>
      </p:sp>
      <p:sp>
        <p:nvSpPr>
          <p:cNvPr id="5" name="Text 3"/>
          <p:cNvSpPr/>
          <p:nvPr/>
        </p:nvSpPr>
        <p:spPr>
          <a:xfrm>
            <a:off x="10462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1</a:t>
            </a:r>
            <a:endParaRPr lang="en-US" sz="3200" dirty="0"/>
          </a:p>
        </p:txBody>
      </p:sp>
      <p:sp>
        <p:nvSpPr>
          <p:cNvPr id="6" name="Text 4"/>
          <p:cNvSpPr/>
          <p:nvPr/>
        </p:nvSpPr>
        <p:spPr>
          <a:xfrm>
            <a:off x="10462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Ask</a:t>
            </a:r>
            <a:endParaRPr lang="en-US" sz="1900" dirty="0"/>
          </a:p>
        </p:txBody>
      </p:sp>
      <p:sp>
        <p:nvSpPr>
          <p:cNvPr id="7" name="Text 5"/>
          <p:cNvSpPr/>
          <p:nvPr/>
        </p:nvSpPr>
        <p:spPr>
          <a:xfrm>
            <a:off x="1046238" y="2697200"/>
            <a:ext cx="1808293"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A supervisor types a question in plain English.</a:t>
            </a:r>
            <a:endParaRPr lang="en-US" sz="1300" dirty="0"/>
          </a:p>
        </p:txBody>
      </p:sp>
      <p:pic>
        <p:nvPicPr>
          <p:cNvPr id="8" name="Image 0" descr="arrow-right">    </p:cNvPr>
          <p:cNvPicPr>
            <a:picLocks noChangeAspect="1"/>
          </p:cNvPicPr>
          <p:nvPr/>
        </p:nvPicPr>
        <p:blipFill>
          <a:blip r:embed="rId1"/>
          <a:srcRect l="0" r="0" t="0" b="0"/>
          <a:stretch/>
        </p:blipFill>
        <p:spPr>
          <a:xfrm>
            <a:off x="3162300" y="2659100"/>
            <a:ext cx="304800" cy="152400"/>
          </a:xfrm>
          <a:prstGeom prst="rect">
            <a:avLst/>
          </a:prstGeom>
        </p:spPr>
      </p:pic>
      <p:sp>
        <p:nvSpPr>
          <p:cNvPr id="9" name="Shape 6"/>
          <p:cNvSpPr/>
          <p:nvPr/>
        </p:nvSpPr>
        <p:spPr>
          <a:xfrm>
            <a:off x="3597275" y="1618608"/>
            <a:ext cx="2216150" cy="2233386"/>
          </a:xfrm>
          <a:prstGeom prst="roundRect">
            <a:avLst>
              <a:gd name="adj" fmla="val 5587"/>
            </a:avLst>
          </a:prstGeom>
          <a:solidFill>
            <a:srgbClr val="F6F6F6"/>
          </a:solidFill>
          <a:ln w="6350">
            <a:solidFill>
              <a:srgbClr val="E7E9EC"/>
            </a:solidFill>
            <a:prstDash val="solid"/>
          </a:ln>
        </p:spPr>
      </p:sp>
      <p:sp>
        <p:nvSpPr>
          <p:cNvPr id="10" name="Text 7"/>
          <p:cNvSpPr/>
          <p:nvPr/>
        </p:nvSpPr>
        <p:spPr>
          <a:xfrm>
            <a:off x="38275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2</a:t>
            </a:r>
            <a:endParaRPr lang="en-US" sz="3200" dirty="0"/>
          </a:p>
        </p:txBody>
      </p:sp>
      <p:sp>
        <p:nvSpPr>
          <p:cNvPr id="11" name="Text 8"/>
          <p:cNvSpPr/>
          <p:nvPr/>
        </p:nvSpPr>
        <p:spPr>
          <a:xfrm>
            <a:off x="38275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Interpret</a:t>
            </a:r>
            <a:endParaRPr lang="en-US" sz="1900" dirty="0"/>
          </a:p>
        </p:txBody>
      </p:sp>
      <p:sp>
        <p:nvSpPr>
          <p:cNvPr id="12" name="Text 9"/>
          <p:cNvSpPr/>
          <p:nvPr/>
        </p:nvSpPr>
        <p:spPr>
          <a:xfrm>
            <a:off x="3827538" y="2697200"/>
            <a:ext cx="1808293"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Genie maps it to tables, metrics and agreed definitions.</a:t>
            </a:r>
            <a:endParaRPr lang="en-US" sz="1300" dirty="0"/>
          </a:p>
        </p:txBody>
      </p:sp>
      <p:pic>
        <p:nvPicPr>
          <p:cNvPr id="13" name="Image 1" descr="arrow-right">    </p:cNvPr>
          <p:cNvPicPr>
            <a:picLocks noChangeAspect="1"/>
          </p:cNvPicPr>
          <p:nvPr/>
        </p:nvPicPr>
        <p:blipFill>
          <a:blip r:embed="rId2"/>
          <a:srcRect l="0" r="0" t="0" b="0"/>
          <a:stretch/>
        </p:blipFill>
        <p:spPr>
          <a:xfrm>
            <a:off x="5943600" y="2659100"/>
            <a:ext cx="304800" cy="152400"/>
          </a:xfrm>
          <a:prstGeom prst="rect">
            <a:avLst/>
          </a:prstGeom>
        </p:spPr>
      </p:pic>
      <p:sp>
        <p:nvSpPr>
          <p:cNvPr id="14" name="Shape 10"/>
          <p:cNvSpPr/>
          <p:nvPr/>
        </p:nvSpPr>
        <p:spPr>
          <a:xfrm>
            <a:off x="6378575" y="1618608"/>
            <a:ext cx="2216150" cy="2233386"/>
          </a:xfrm>
          <a:prstGeom prst="roundRect">
            <a:avLst>
              <a:gd name="adj" fmla="val 5587"/>
            </a:avLst>
          </a:prstGeom>
          <a:solidFill>
            <a:srgbClr val="F6F6F6"/>
          </a:solidFill>
          <a:ln w="6350">
            <a:solidFill>
              <a:srgbClr val="E7E9EC"/>
            </a:solidFill>
            <a:prstDash val="solid"/>
          </a:ln>
        </p:spPr>
      </p:sp>
      <p:sp>
        <p:nvSpPr>
          <p:cNvPr id="15" name="Text 11"/>
          <p:cNvSpPr/>
          <p:nvPr/>
        </p:nvSpPr>
        <p:spPr>
          <a:xfrm>
            <a:off x="66088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3</a:t>
            </a:r>
            <a:endParaRPr lang="en-US" sz="3200" dirty="0"/>
          </a:p>
        </p:txBody>
      </p:sp>
      <p:sp>
        <p:nvSpPr>
          <p:cNvPr id="16" name="Text 12"/>
          <p:cNvSpPr/>
          <p:nvPr/>
        </p:nvSpPr>
        <p:spPr>
          <a:xfrm>
            <a:off x="66088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Query</a:t>
            </a:r>
            <a:endParaRPr lang="en-US" sz="1900" dirty="0"/>
          </a:p>
        </p:txBody>
      </p:sp>
      <p:sp>
        <p:nvSpPr>
          <p:cNvPr id="17" name="Text 13"/>
          <p:cNvSpPr/>
          <p:nvPr/>
        </p:nvSpPr>
        <p:spPr>
          <a:xfrm>
            <a:off x="6608838" y="2697200"/>
            <a:ext cx="1808293"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It writes and runs SQL on governed tables in Unity Catalog.</a:t>
            </a:r>
            <a:endParaRPr lang="en-US" sz="1300" dirty="0"/>
          </a:p>
        </p:txBody>
      </p:sp>
      <p:pic>
        <p:nvPicPr>
          <p:cNvPr id="18" name="Image 2" descr="arrow-right">    </p:cNvPr>
          <p:cNvPicPr>
            <a:picLocks noChangeAspect="1"/>
          </p:cNvPicPr>
          <p:nvPr/>
        </p:nvPicPr>
        <p:blipFill>
          <a:blip r:embed="rId3"/>
          <a:srcRect l="0" r="0" t="0" b="0"/>
          <a:stretch/>
        </p:blipFill>
        <p:spPr>
          <a:xfrm>
            <a:off x="8724900" y="2659100"/>
            <a:ext cx="304800" cy="152400"/>
          </a:xfrm>
          <a:prstGeom prst="rect">
            <a:avLst/>
          </a:prstGeom>
        </p:spPr>
      </p:pic>
      <p:sp>
        <p:nvSpPr>
          <p:cNvPr id="19" name="Shape 14"/>
          <p:cNvSpPr/>
          <p:nvPr/>
        </p:nvSpPr>
        <p:spPr>
          <a:xfrm>
            <a:off x="9159875" y="1618608"/>
            <a:ext cx="2216150" cy="2233386"/>
          </a:xfrm>
          <a:prstGeom prst="roundRect">
            <a:avLst>
              <a:gd name="adj" fmla="val 5587"/>
            </a:avLst>
          </a:prstGeom>
          <a:solidFill>
            <a:srgbClr val="F6F6F6"/>
          </a:solidFill>
          <a:ln w="6350">
            <a:solidFill>
              <a:srgbClr val="E7E9EC"/>
            </a:solidFill>
            <a:prstDash val="solid"/>
          </a:ln>
        </p:spPr>
      </p:sp>
      <p:sp>
        <p:nvSpPr>
          <p:cNvPr id="20" name="Text 15"/>
          <p:cNvSpPr/>
          <p:nvPr/>
        </p:nvSpPr>
        <p:spPr>
          <a:xfrm>
            <a:off x="9390138" y="1848870"/>
            <a:ext cx="1808293"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2273F"/>
                </a:solidFill>
                <a:latin typeface="Outfit" pitchFamily="34" charset="0"/>
                <a:ea typeface="Outfit" pitchFamily="34" charset="-122"/>
                <a:cs typeface="Outfit" pitchFamily="34" charset="-120"/>
              </a:rPr>
              <a:t>4</a:t>
            </a:r>
            <a:endParaRPr lang="en-US" sz="3200" dirty="0"/>
          </a:p>
        </p:txBody>
      </p:sp>
      <p:sp>
        <p:nvSpPr>
          <p:cNvPr id="21" name="Text 16"/>
          <p:cNvSpPr/>
          <p:nvPr/>
        </p:nvSpPr>
        <p:spPr>
          <a:xfrm>
            <a:off x="9390138" y="2331470"/>
            <a:ext cx="1808293" cy="31493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273F"/>
                </a:solidFill>
                <a:latin typeface="Outfit" pitchFamily="34" charset="0"/>
                <a:ea typeface="Outfit" pitchFamily="34" charset="-122"/>
                <a:cs typeface="Outfit" pitchFamily="34" charset="-120"/>
              </a:rPr>
              <a:t>Answer</a:t>
            </a:r>
            <a:endParaRPr lang="en-US" sz="1900" dirty="0"/>
          </a:p>
        </p:txBody>
      </p:sp>
      <p:sp>
        <p:nvSpPr>
          <p:cNvPr id="22" name="Text 17"/>
          <p:cNvSpPr/>
          <p:nvPr/>
        </p:nvSpPr>
        <p:spPr>
          <a:xfrm>
            <a:off x="9390138" y="2697200"/>
            <a:ext cx="1808293" cy="9499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A plain-English answer, a table or a chart, with the SQL behind it.</a:t>
            </a:r>
            <a:endParaRPr lang="en-US" sz="1300" dirty="0"/>
          </a:p>
        </p:txBody>
      </p:sp>
      <p:sp>
        <p:nvSpPr>
          <p:cNvPr id="23" name="Text 18"/>
          <p:cNvSpPr/>
          <p:nvPr/>
        </p:nvSpPr>
        <p:spPr>
          <a:xfrm>
            <a:off x="812800" y="4210769"/>
            <a:ext cx="10566400" cy="1076930"/>
          </a:xfrm>
          <a:prstGeom prst="roundRect">
            <a:avLst>
              <a:gd name="adj" fmla="val 11793"/>
            </a:avLst>
          </a:prstGeom>
          <a:solidFill>
            <a:srgbClr val="12273F"/>
          </a:solidFill>
          <a:ln/>
        </p:spPr>
        <p:txBody>
          <a:bodyPr wrap="square" lIns="267603" tIns="216803" rIns="0" bIns="191403" rtlCol="0" anchor="t">
            <a:normAutofit/>
          </a:bodyPr>
          <a:lstStyle/>
          <a:p>
            <a:pPr algn="l" indent="0" marL="0">
              <a:lnSpc>
                <a:spcPts val="2240"/>
              </a:lnSpc>
              <a:buNone/>
            </a:pPr>
            <a:r>
              <a:rPr lang="en-US" sz="1600" dirty="0">
                <a:solidFill>
                  <a:srgbClr val="3CD7D9"/>
                </a:solidFill>
                <a:latin typeface="Inter" pitchFamily="34" charset="0"/>
                <a:ea typeface="Inter" pitchFamily="34" charset="-122"/>
                <a:cs typeface="Inter" pitchFamily="34" charset="-120"/>
              </a:rPr>
              <a:t>Key point:</a:t>
            </a:r>
            <a:r>
              <a:rPr lang="en-US" sz="1600" dirty="0">
                <a:solidFill>
                  <a:srgbClr val="FFFFFF"/>
                </a:solidFill>
                <a:latin typeface="Inter" pitchFamily="34" charset="0"/>
                <a:ea typeface="Inter" pitchFamily="34" charset="-122"/>
                <a:cs typeface="Inter" pitchFamily="34" charset="-120"/>
              </a:rPr>
              <a:t> numbers are computed from the data, not generated from model memory. Every figure traces back to a query you can inspect.</a:t>
            </a:r>
            <a:endParaRPr lang="en-US" sz="1600" dirty="0"/>
          </a:p>
        </p:txBody>
      </p:sp>
      <p:sp>
        <p:nvSpPr>
          <p:cNvPr id="24" name="Text 19"/>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Where the data comes from</a:t>
            </a:r>
            <a:endParaRPr lang="en-US" sz="3200" dirty="0"/>
          </a:p>
        </p:txBody>
      </p:sp>
      <p:sp>
        <p:nvSpPr>
          <p:cNvPr id="4" name="Text 2"/>
          <p:cNvSpPr/>
          <p:nvPr/>
        </p:nvSpPr>
        <p:spPr>
          <a:xfrm>
            <a:off x="812800" y="143763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15265"/>
                </a:solidFill>
                <a:latin typeface="Inter" pitchFamily="34" charset="0"/>
                <a:ea typeface="Inter" pitchFamily="34" charset="-122"/>
                <a:cs typeface="Inter" pitchFamily="34" charset="-120"/>
              </a:rPr>
              <a:t>Many sources, bespoke extraction for each risk stripe, and a curated Genie agent for each.</a:t>
            </a:r>
            <a:endParaRPr lang="en-US" sz="1500" dirty="0"/>
          </a:p>
        </p:txBody>
      </p:sp>
      <p:sp>
        <p:nvSpPr>
          <p:cNvPr id="5" name="Text 3"/>
          <p:cNvSpPr/>
          <p:nvPr/>
        </p:nvSpPr>
        <p:spPr>
          <a:xfrm>
            <a:off x="81280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SOURCES</a:t>
            </a:r>
            <a:endParaRPr lang="en-US" sz="1200" dirty="0"/>
          </a:p>
        </p:txBody>
      </p:sp>
      <p:sp>
        <p:nvSpPr>
          <p:cNvPr id="6" name="Text 4"/>
          <p:cNvSpPr/>
          <p:nvPr/>
        </p:nvSpPr>
        <p:spPr>
          <a:xfrm>
            <a:off x="812800" y="215896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Unstructured</a:t>
            </a:r>
            <a:endParaRPr lang="en-US" sz="1200" dirty="0"/>
          </a:p>
        </p:txBody>
      </p:sp>
      <p:sp>
        <p:nvSpPr>
          <p:cNvPr id="7" name="Text 5"/>
          <p:cNvSpPr/>
          <p:nvPr/>
        </p:nvSpPr>
        <p:spPr>
          <a:xfrm>
            <a:off x="815975" y="2438967"/>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Firm MI packs</a:t>
            </a:r>
            <a:endParaRPr lang="en-US" sz="1200" dirty="0"/>
          </a:p>
        </p:txBody>
      </p:sp>
      <p:sp>
        <p:nvSpPr>
          <p:cNvPr id="8" name="Text 6"/>
          <p:cNvSpPr/>
          <p:nvPr/>
        </p:nvSpPr>
        <p:spPr>
          <a:xfrm>
            <a:off x="815975" y="2877874"/>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Board papers</a:t>
            </a:r>
            <a:endParaRPr lang="en-US" sz="1200" dirty="0"/>
          </a:p>
        </p:txBody>
      </p:sp>
      <p:sp>
        <p:nvSpPr>
          <p:cNvPr id="9" name="Text 7"/>
          <p:cNvSpPr/>
          <p:nvPr/>
        </p:nvSpPr>
        <p:spPr>
          <a:xfrm>
            <a:off x="815975" y="3316780"/>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Management commentary</a:t>
            </a:r>
            <a:endParaRPr lang="en-US" sz="1200" dirty="0"/>
          </a:p>
        </p:txBody>
      </p:sp>
      <p:sp>
        <p:nvSpPr>
          <p:cNvPr id="10" name="Text 8"/>
          <p:cNvSpPr/>
          <p:nvPr/>
        </p:nvSpPr>
        <p:spPr>
          <a:xfrm>
            <a:off x="812800" y="3752512"/>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Structured</a:t>
            </a:r>
            <a:endParaRPr lang="en-US" sz="1200" dirty="0"/>
          </a:p>
        </p:txBody>
      </p:sp>
      <p:sp>
        <p:nvSpPr>
          <p:cNvPr id="11" name="Text 9"/>
          <p:cNvSpPr/>
          <p:nvPr/>
        </p:nvSpPr>
        <p:spPr>
          <a:xfrm>
            <a:off x="815975" y="4032517"/>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Regulatory returns</a:t>
            </a:r>
            <a:endParaRPr lang="en-US" sz="1200" dirty="0"/>
          </a:p>
        </p:txBody>
      </p:sp>
      <p:sp>
        <p:nvSpPr>
          <p:cNvPr id="12" name="Text 10"/>
          <p:cNvSpPr/>
          <p:nvPr/>
        </p:nvSpPr>
        <p:spPr>
          <a:xfrm>
            <a:off x="815975" y="4471420"/>
            <a:ext cx="2273300" cy="369056"/>
          </a:xfrm>
          <a:prstGeom prst="roundRect">
            <a:avLst>
              <a:gd name="adj" fmla="val 16346"/>
            </a:avLst>
          </a:prstGeom>
          <a:solidFill>
            <a:srgbClr val="F6F6F6"/>
          </a:solidFill>
          <a:ln w="6350">
            <a:solidFill>
              <a:srgbClr val="E7E9EC"/>
            </a:solidFill>
            <a:prstDash val="solid"/>
          </a:ln>
        </p:spPr>
        <p:txBody>
          <a:bodyPr wrap="square" lIns="85595" tIns="60195" rIns="23591" bIns="34795"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Reference data</a:t>
            </a:r>
            <a:endParaRPr lang="en-US" sz="1200" dirty="0"/>
          </a:p>
        </p:txBody>
      </p:sp>
      <p:pic>
        <p:nvPicPr>
          <p:cNvPr id="13" name="Image 0" descr="arrow-right">    </p:cNvPr>
          <p:cNvPicPr>
            <a:picLocks noChangeAspect="1"/>
          </p:cNvPicPr>
          <p:nvPr/>
        </p:nvPicPr>
        <p:blipFill>
          <a:blip r:embed="rId1"/>
          <a:srcRect l="0" r="0" t="0" b="0"/>
          <a:stretch/>
        </p:blipFill>
        <p:spPr>
          <a:xfrm>
            <a:off x="3194050" y="3293042"/>
            <a:ext cx="279400" cy="139700"/>
          </a:xfrm>
          <a:prstGeom prst="rect">
            <a:avLst/>
          </a:prstGeom>
        </p:spPr>
      </p:pic>
      <p:sp>
        <p:nvSpPr>
          <p:cNvPr id="14" name="Text 11"/>
          <p:cNvSpPr/>
          <p:nvPr/>
        </p:nvSpPr>
        <p:spPr>
          <a:xfrm>
            <a:off x="357505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BESPOKE EXTRACTION</a:t>
            </a:r>
            <a:endParaRPr lang="en-US" sz="1200" dirty="0"/>
          </a:p>
        </p:txBody>
      </p:sp>
      <p:sp>
        <p:nvSpPr>
          <p:cNvPr id="15" name="Text 12"/>
          <p:cNvSpPr/>
          <p:nvPr/>
        </p:nvSpPr>
        <p:spPr>
          <a:xfrm>
            <a:off x="3575050" y="2171663"/>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Credit risk</a:t>
            </a:r>
            <a:endParaRPr lang="en-US" sz="1400" dirty="0"/>
          </a:p>
        </p:txBody>
      </p:sp>
      <p:sp>
        <p:nvSpPr>
          <p:cNvPr id="16" name="Text 13"/>
          <p:cNvSpPr/>
          <p:nvPr/>
        </p:nvSpPr>
        <p:spPr>
          <a:xfrm>
            <a:off x="3575050" y="2699959"/>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Liquidity</a:t>
            </a:r>
            <a:endParaRPr lang="en-US" sz="1400" dirty="0"/>
          </a:p>
        </p:txBody>
      </p:sp>
      <p:sp>
        <p:nvSpPr>
          <p:cNvPr id="17" name="Text 14"/>
          <p:cNvSpPr/>
          <p:nvPr/>
        </p:nvSpPr>
        <p:spPr>
          <a:xfrm>
            <a:off x="3575050" y="3228259"/>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Capital</a:t>
            </a:r>
            <a:endParaRPr lang="en-US" sz="1400" dirty="0"/>
          </a:p>
        </p:txBody>
      </p:sp>
      <p:sp>
        <p:nvSpPr>
          <p:cNvPr id="18" name="Text 15"/>
          <p:cNvSpPr/>
          <p:nvPr/>
        </p:nvSpPr>
        <p:spPr>
          <a:xfrm>
            <a:off x="3575050" y="3756555"/>
            <a:ext cx="2279650" cy="452097"/>
          </a:xfrm>
          <a:prstGeom prst="roundRect">
            <a:avLst>
              <a:gd name="adj" fmla="val 16855"/>
            </a:avLst>
          </a:prstGeom>
          <a:solidFill>
            <a:srgbClr val="CEF5F5"/>
          </a:solidFill>
          <a:ln/>
        </p:spPr>
        <p:txBody>
          <a:bodyPr wrap="square" lIns="104682" tIns="79282" rIns="43912" bIns="53882"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[Other risk stripes]</a:t>
            </a:r>
            <a:endParaRPr lang="en-US" sz="1400" dirty="0"/>
          </a:p>
        </p:txBody>
      </p:sp>
      <p:sp>
        <p:nvSpPr>
          <p:cNvPr id="19" name="Text 16"/>
          <p:cNvSpPr/>
          <p:nvPr/>
        </p:nvSpPr>
        <p:spPr>
          <a:xfrm>
            <a:off x="3575050" y="4284852"/>
            <a:ext cx="234803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Each tuned to its own tables, terms and commentary</a:t>
            </a:r>
            <a:endParaRPr lang="en-US" sz="1200" dirty="0"/>
          </a:p>
        </p:txBody>
      </p:sp>
      <p:pic>
        <p:nvPicPr>
          <p:cNvPr id="20" name="Image 1" descr="arrow-right">    </p:cNvPr>
          <p:cNvPicPr>
            <a:picLocks noChangeAspect="1"/>
          </p:cNvPicPr>
          <p:nvPr/>
        </p:nvPicPr>
        <p:blipFill>
          <a:blip r:embed="rId2"/>
          <a:srcRect l="0" r="0" t="0" b="0"/>
          <a:stretch/>
        </p:blipFill>
        <p:spPr>
          <a:xfrm>
            <a:off x="5956300" y="3293042"/>
            <a:ext cx="279400" cy="139700"/>
          </a:xfrm>
          <a:prstGeom prst="rect">
            <a:avLst/>
          </a:prstGeom>
        </p:spPr>
      </p:pic>
      <p:sp>
        <p:nvSpPr>
          <p:cNvPr id="21" name="Text 17"/>
          <p:cNvSpPr/>
          <p:nvPr/>
        </p:nvSpPr>
        <p:spPr>
          <a:xfrm>
            <a:off x="633730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CURATED TABLES</a:t>
            </a:r>
            <a:endParaRPr lang="en-US" sz="1200" dirty="0"/>
          </a:p>
        </p:txBody>
      </p:sp>
      <p:sp>
        <p:nvSpPr>
          <p:cNvPr id="22" name="Shape 18"/>
          <p:cNvSpPr/>
          <p:nvPr/>
        </p:nvSpPr>
        <p:spPr>
          <a:xfrm>
            <a:off x="6337300" y="2171663"/>
            <a:ext cx="2279650" cy="2671989"/>
          </a:xfrm>
          <a:prstGeom prst="roundRect">
            <a:avLst>
              <a:gd name="adj" fmla="val 4457"/>
            </a:avLst>
          </a:prstGeom>
          <a:solidFill>
            <a:srgbClr val="12273F"/>
          </a:solidFill>
          <a:ln/>
        </p:spPr>
      </p:sp>
      <p:sp>
        <p:nvSpPr>
          <p:cNvPr id="23" name="Text 19"/>
          <p:cNvSpPr/>
          <p:nvPr/>
        </p:nvSpPr>
        <p:spPr>
          <a:xfrm>
            <a:off x="6515100" y="2658042"/>
            <a:ext cx="198177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CD7D9"/>
                </a:solidFill>
                <a:latin typeface="Outfit" pitchFamily="34" charset="0"/>
                <a:ea typeface="Outfit" pitchFamily="34" charset="-122"/>
                <a:cs typeface="Outfit" pitchFamily="34" charset="-120"/>
              </a:rPr>
              <a:t>One governed home</a:t>
            </a:r>
            <a:endParaRPr lang="en-US" sz="1500" dirty="0"/>
          </a:p>
        </p:txBody>
      </p:sp>
      <p:sp>
        <p:nvSpPr>
          <p:cNvPr id="24" name="Text 20"/>
          <p:cNvSpPr/>
          <p:nvPr/>
        </p:nvSpPr>
        <p:spPr>
          <a:xfrm>
            <a:off x="6613144" y="3039042"/>
            <a:ext cx="1876806" cy="10160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FFFFFF"/>
                </a:solidFill>
                <a:latin typeface="Inter" pitchFamily="34" charset="0"/>
                <a:ea typeface="Inter" pitchFamily="34" charset="-122"/>
                <a:cs typeface="Inter" pitchFamily="34" charset="-120"/>
              </a:rPr>
              <a:t>Numbers</a:t>
            </a:r>
            <a:endParaRPr lang="en-US" sz="1300" dirty="0"/>
          </a:p>
          <a:p>
            <a:pPr algn="l" marL="155956" indent="-155956">
              <a:lnSpc>
                <a:spcPts val="1950"/>
              </a:lnSpc>
              <a:buSzPct val="100000"/>
              <a:buChar char="•"/>
            </a:pPr>
            <a:r>
              <a:rPr lang="en-US" sz="1300" dirty="0">
                <a:solidFill>
                  <a:srgbClr val="FFFFFF"/>
                </a:solidFill>
                <a:latin typeface="Inter" pitchFamily="34" charset="0"/>
                <a:ea typeface="Inter" pitchFamily="34" charset="-122"/>
                <a:cs typeface="Inter" pitchFamily="34" charset="-120"/>
              </a:rPr>
              <a:t>Narrative</a:t>
            </a:r>
            <a:endParaRPr lang="en-US" sz="1300" dirty="0"/>
          </a:p>
          <a:p>
            <a:pPr algn="l" marL="155956" indent="-155956">
              <a:lnSpc>
                <a:spcPts val="1950"/>
              </a:lnSpc>
              <a:buSzPct val="100000"/>
              <a:buChar char="•"/>
            </a:pPr>
            <a:r>
              <a:rPr lang="en-US" sz="1300" dirty="0">
                <a:solidFill>
                  <a:srgbClr val="FFFFFF"/>
                </a:solidFill>
                <a:latin typeface="Inter" pitchFamily="34" charset="0"/>
                <a:ea typeface="Inter" pitchFamily="34" charset="-122"/>
                <a:cs typeface="Inter" pitchFamily="34" charset="-120"/>
              </a:rPr>
              <a:t>Firm, period and source page</a:t>
            </a:r>
            <a:endParaRPr lang="en-US" sz="1300" dirty="0"/>
          </a:p>
        </p:txBody>
      </p:sp>
      <p:sp>
        <p:nvSpPr>
          <p:cNvPr id="25" name="Text 21"/>
          <p:cNvSpPr/>
          <p:nvPr/>
        </p:nvSpPr>
        <p:spPr>
          <a:xfrm>
            <a:off x="6515100" y="4143942"/>
            <a:ext cx="1981771"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9CF"/>
                </a:solidFill>
                <a:latin typeface="Inter" pitchFamily="34" charset="0"/>
                <a:ea typeface="Inter" pitchFamily="34" charset="-122"/>
                <a:cs typeface="Inter" pitchFamily="34" charset="-120"/>
              </a:rPr>
              <a:t>Stored in Unity Catalog</a:t>
            </a:r>
            <a:endParaRPr lang="en-US" sz="1200" dirty="0"/>
          </a:p>
        </p:txBody>
      </p:sp>
      <p:pic>
        <p:nvPicPr>
          <p:cNvPr id="26" name="Image 2" descr="arrow-right">    </p:cNvPr>
          <p:cNvPicPr>
            <a:picLocks noChangeAspect="1"/>
          </p:cNvPicPr>
          <p:nvPr/>
        </p:nvPicPr>
        <p:blipFill>
          <a:blip r:embed="rId3"/>
          <a:srcRect l="0" r="0" t="0" b="0"/>
          <a:stretch/>
        </p:blipFill>
        <p:spPr>
          <a:xfrm>
            <a:off x="8718550" y="3293042"/>
            <a:ext cx="279400" cy="139700"/>
          </a:xfrm>
          <a:prstGeom prst="rect">
            <a:avLst/>
          </a:prstGeom>
        </p:spPr>
      </p:pic>
      <p:sp>
        <p:nvSpPr>
          <p:cNvPr id="27" name="Text 22"/>
          <p:cNvSpPr/>
          <p:nvPr/>
        </p:nvSpPr>
        <p:spPr>
          <a:xfrm>
            <a:off x="9099550" y="1882133"/>
            <a:ext cx="234803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GENIE AGENTS</a:t>
            </a:r>
            <a:endParaRPr lang="en-US" sz="1200" dirty="0"/>
          </a:p>
        </p:txBody>
      </p:sp>
      <p:sp>
        <p:nvSpPr>
          <p:cNvPr id="28" name="Text 23"/>
          <p:cNvSpPr/>
          <p:nvPr/>
        </p:nvSpPr>
        <p:spPr>
          <a:xfrm>
            <a:off x="9105900" y="2178013"/>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Credit risk agent</a:t>
            </a:r>
            <a:endParaRPr lang="en-US" sz="1400" dirty="0"/>
          </a:p>
        </p:txBody>
      </p:sp>
      <p:sp>
        <p:nvSpPr>
          <p:cNvPr id="29" name="Text 24"/>
          <p:cNvSpPr/>
          <p:nvPr/>
        </p:nvSpPr>
        <p:spPr>
          <a:xfrm>
            <a:off x="9105900" y="2705100"/>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Liquidity agent</a:t>
            </a:r>
            <a:endParaRPr lang="en-US" sz="1400" dirty="0"/>
          </a:p>
        </p:txBody>
      </p:sp>
      <p:sp>
        <p:nvSpPr>
          <p:cNvPr id="30" name="Text 25"/>
          <p:cNvSpPr/>
          <p:nvPr/>
        </p:nvSpPr>
        <p:spPr>
          <a:xfrm>
            <a:off x="9105900" y="3232187"/>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Capital agent</a:t>
            </a:r>
            <a:endParaRPr lang="en-US" sz="1400" dirty="0"/>
          </a:p>
        </p:txBody>
      </p:sp>
      <p:sp>
        <p:nvSpPr>
          <p:cNvPr id="31" name="Text 26"/>
          <p:cNvSpPr/>
          <p:nvPr/>
        </p:nvSpPr>
        <p:spPr>
          <a:xfrm>
            <a:off x="9105900" y="3759278"/>
            <a:ext cx="2266950" cy="438188"/>
          </a:xfrm>
          <a:prstGeom prst="roundRect">
            <a:avLst>
              <a:gd name="adj" fmla="val 15941"/>
            </a:avLst>
          </a:prstGeom>
          <a:solidFill>
            <a:srgbClr val="FFFFFF"/>
          </a:solidFill>
          <a:ln w="12700">
            <a:solidFill>
              <a:srgbClr val="34BCC1"/>
            </a:solidFill>
            <a:prstDash val="solid"/>
          </a:ln>
        </p:spPr>
        <p:txBody>
          <a:bodyPr wrap="square" lIns="112287" tIns="74187" rIns="52243" bIns="48787" rtlCol="0" anchor="t">
            <a:normAutofit/>
          </a:bodyPr>
          <a:lstStyle/>
          <a:p>
            <a:pPr algn="l" indent="0" marL="0">
              <a:lnSpc>
                <a:spcPts val="1960"/>
              </a:lnSpc>
              <a:buNone/>
            </a:pPr>
            <a:r>
              <a:rPr lang="en-US" sz="1400" b="1" dirty="0">
                <a:solidFill>
                  <a:srgbClr val="12273F"/>
                </a:solidFill>
                <a:latin typeface="Outfit" pitchFamily="34" charset="0"/>
                <a:ea typeface="Outfit" pitchFamily="34" charset="-122"/>
                <a:cs typeface="Outfit" pitchFamily="34" charset="-120"/>
              </a:rPr>
              <a:t>[More agents]</a:t>
            </a:r>
            <a:endParaRPr lang="en-US" sz="1400" dirty="0"/>
          </a:p>
        </p:txBody>
      </p:sp>
      <p:sp>
        <p:nvSpPr>
          <p:cNvPr id="32" name="Text 27"/>
          <p:cNvSpPr/>
          <p:nvPr/>
        </p:nvSpPr>
        <p:spPr>
          <a:xfrm>
            <a:off x="9099550" y="4280015"/>
            <a:ext cx="234803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Each with its own context and tests</a:t>
            </a:r>
            <a:endParaRPr lang="en-US" sz="1200" dirty="0"/>
          </a:p>
        </p:txBody>
      </p:sp>
      <p:sp>
        <p:nvSpPr>
          <p:cNvPr id="33" name="Text 28"/>
          <p:cNvSpPr/>
          <p:nvPr/>
        </p:nvSpPr>
        <p:spPr>
          <a:xfrm>
            <a:off x="812800" y="5021452"/>
            <a:ext cx="10566400" cy="777195"/>
          </a:xfrm>
          <a:prstGeom prst="roundRect">
            <a:avLst>
              <a:gd name="adj" fmla="val 16341"/>
            </a:avLst>
          </a:prstGeom>
          <a:solidFill>
            <a:srgbClr val="CEF5F5"/>
          </a:solidFill>
          <a:ln/>
        </p:spPr>
        <p:txBody>
          <a:bodyPr wrap="square" lIns="216803" tIns="89803" rIns="0" bIns="89803" rtlCol="0" anchor="ctr">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Why bespoke?</a:t>
            </a:r>
            <a:r>
              <a:rPr lang="en-US" sz="1400" dirty="0">
                <a:solidFill>
                  <a:srgbClr val="12273F"/>
                </a:solidFill>
                <a:latin typeface="Inter" pitchFamily="34" charset="0"/>
                <a:ea typeface="Inter" pitchFamily="34" charset="-122"/>
                <a:cs typeface="Inter" pitchFamily="34" charset="-120"/>
              </a:rPr>
              <a:t> Each risk stripe has its own tables, terms and definition of good. Tailored extraction captures them, so each agent gets clean, focused data.</a:t>
            </a:r>
            <a:endParaRPr lang="en-US" sz="1400" dirty="0"/>
          </a:p>
        </p:txBody>
      </p:sp>
      <p:sp>
        <p:nvSpPr>
          <p:cNvPr id="34" name="Text 29"/>
          <p:cNvSpPr/>
          <p:nvPr/>
        </p:nvSpPr>
        <p:spPr>
          <a:xfrm>
            <a:off x="812800" y="6238270"/>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One credit risk narrative, from page to answer</a:t>
            </a:r>
            <a:endParaRPr lang="en-US" sz="3200" dirty="0"/>
          </a:p>
        </p:txBody>
      </p:sp>
      <p:sp>
        <p:nvSpPr>
          <p:cNvPr id="4" name="Shape 2"/>
          <p:cNvSpPr/>
          <p:nvPr/>
        </p:nvSpPr>
        <p:spPr>
          <a:xfrm>
            <a:off x="815975" y="1517008"/>
            <a:ext cx="3163396" cy="2960158"/>
          </a:xfrm>
          <a:prstGeom prst="roundRect">
            <a:avLst>
              <a:gd name="adj" fmla="val 4183"/>
            </a:avLst>
          </a:prstGeom>
          <a:solidFill>
            <a:srgbClr val="F6F6F6"/>
          </a:solidFill>
          <a:ln w="6350">
            <a:solidFill>
              <a:srgbClr val="E7E9EC"/>
            </a:solidFill>
            <a:prstDash val="solid"/>
          </a:ln>
        </p:spPr>
      </p:sp>
      <p:sp>
        <p:nvSpPr>
          <p:cNvPr id="5" name="Text 3"/>
          <p:cNvSpPr/>
          <p:nvPr/>
        </p:nvSpPr>
        <p:spPr>
          <a:xfrm>
            <a:off x="1008138" y="1709170"/>
            <a:ext cx="2862442"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1 · ON THE PAGE</a:t>
            </a:r>
            <a:endParaRPr lang="en-US" sz="1200" dirty="0"/>
          </a:p>
        </p:txBody>
      </p:sp>
      <p:sp>
        <p:nvSpPr>
          <p:cNvPr id="6" name="Text 4"/>
          <p:cNvSpPr/>
          <p:nvPr/>
        </p:nvSpPr>
        <p:spPr>
          <a:xfrm>
            <a:off x="1008138" y="2024100"/>
            <a:ext cx="286244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[Firm A] MI pack, page [12]</a:t>
            </a:r>
            <a:endParaRPr lang="en-US" sz="1200" dirty="0"/>
          </a:p>
        </p:txBody>
      </p:sp>
      <p:sp>
        <p:nvSpPr>
          <p:cNvPr id="7" name="Shape 5"/>
          <p:cNvSpPr/>
          <p:nvPr/>
        </p:nvSpPr>
        <p:spPr>
          <a:xfrm>
            <a:off x="1008138" y="2339032"/>
            <a:ext cx="2779070" cy="782713"/>
          </a:xfrm>
          <a:prstGeom prst="rect">
            <a:avLst/>
          </a:prstGeom>
          <a:solidFill>
            <a:srgbClr val="FFFFFF"/>
          </a:solidFill>
          <a:ln/>
        </p:spPr>
      </p:sp>
      <p:sp>
        <p:nvSpPr>
          <p:cNvPr id="8" name="Shape 6"/>
          <p:cNvSpPr/>
          <p:nvPr/>
        </p:nvSpPr>
        <p:spPr>
          <a:xfrm>
            <a:off x="3784033" y="2339032"/>
            <a:ext cx="0" cy="782713"/>
          </a:xfrm>
          <a:prstGeom prst="line">
            <a:avLst/>
          </a:prstGeom>
          <a:noFill/>
          <a:ln w="6350">
            <a:solidFill>
              <a:srgbClr val="E7E9EC"/>
            </a:solidFill>
            <a:prstDash val="solid"/>
          </a:ln>
        </p:spPr>
      </p:sp>
      <p:sp>
        <p:nvSpPr>
          <p:cNvPr id="9" name="Shape 7"/>
          <p:cNvSpPr/>
          <p:nvPr/>
        </p:nvSpPr>
        <p:spPr>
          <a:xfrm>
            <a:off x="1008138" y="3118571"/>
            <a:ext cx="2779070" cy="0"/>
          </a:xfrm>
          <a:prstGeom prst="line">
            <a:avLst/>
          </a:prstGeom>
          <a:noFill/>
          <a:ln w="6350">
            <a:solidFill>
              <a:srgbClr val="E7E9EC"/>
            </a:solidFill>
            <a:prstDash val="solid"/>
          </a:ln>
        </p:spPr>
      </p:sp>
      <p:sp>
        <p:nvSpPr>
          <p:cNvPr id="10" name="Shape 8"/>
          <p:cNvSpPr/>
          <p:nvPr/>
        </p:nvSpPr>
        <p:spPr>
          <a:xfrm>
            <a:off x="1008138" y="2345080"/>
            <a:ext cx="2779070" cy="0"/>
          </a:xfrm>
          <a:prstGeom prst="line">
            <a:avLst/>
          </a:prstGeom>
          <a:noFill/>
          <a:ln w="12095">
            <a:solidFill>
              <a:srgbClr val="141413">
                <a:alpha val="22000"/>
              </a:srgbClr>
            </a:solidFill>
            <a:prstDash val="solid"/>
          </a:ln>
        </p:spPr>
      </p:sp>
      <p:sp>
        <p:nvSpPr>
          <p:cNvPr id="11" name="Shape 9"/>
          <p:cNvSpPr/>
          <p:nvPr/>
        </p:nvSpPr>
        <p:spPr>
          <a:xfrm>
            <a:off x="1014186" y="2339032"/>
            <a:ext cx="0" cy="782713"/>
          </a:xfrm>
          <a:prstGeom prst="line">
            <a:avLst/>
          </a:prstGeom>
          <a:noFill/>
          <a:ln w="12095">
            <a:solidFill>
              <a:srgbClr val="141413">
                <a:alpha val="22000"/>
              </a:srgbClr>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096433" y="2401928"/>
          <a:ext cx="2609737" cy="664180"/>
        </p:xfrm>
        <a:graphic>
          <a:graphicData uri="http://schemas.openxmlformats.org/drawingml/2006/table">
            <a:tbl>
              <a:tblPr/>
              <a:tblGrid>
                <a:gridCol w="1304868"/>
                <a:gridCol w="652434"/>
                <a:gridCol w="652434"/>
              </a:tblGrid>
              <a:tr h="332090">
                <a:tc>
                  <a:txBody>
                    <a:bodyPr/>
                    <a:lstStyle/>
                    <a:p>
                      <a:pPr indent="0" marL="0">
                        <a:lnSpc>
                          <a:spcPts val="1680"/>
                        </a:lnSpc>
                        <a:buNone/>
                      </a:pPr>
                      <a:r>
                        <a:rPr lang="en-US" sz="1200" b="1" dirty="0">
                          <a:solidFill>
                            <a:srgbClr val="12273F"/>
                          </a:solidFill>
                          <a:latin typeface="Inter" pitchFamily="34" charset="0"/>
                          <a:ea typeface="Inter" pitchFamily="34" charset="-122"/>
                          <a:cs typeface="Inter" pitchFamily="34" charset="-120"/>
                        </a:rPr>
                        <a:t>£m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B9BABC"/>
                      </a:solidFill>
                      <a:prstDash val="solid"/>
                      <a:round/>
                      <a:headEnd type="none" w="med" len="med"/>
                      <a:tailEnd type="none" w="med" len="med"/>
                    </a:lnR>
                    <a:lnT w="0" cap="flat" cmpd="sng" algn="ctr">
                      <a:noFill/>
                    </a:lnT>
                    <a:lnB w="12700" cap="flat" cmpd="sng" algn="ctr">
                      <a:solidFill>
                        <a:srgbClr val="B9BABC"/>
                      </a:solidFill>
                      <a:prstDash val="solid"/>
                      <a:round/>
                      <a:headEnd type="none" w="med" len="med"/>
                      <a:tailEnd type="none" w="med" len="med"/>
                    </a:lnB>
                    <a:solidFill>
                      <a:srgbClr val="E7E9EC"/>
                    </a:solidFill>
                  </a:tcPr>
                </a:tc>
                <a:tc>
                  <a:txBody>
                    <a:bodyPr/>
                    <a:lstStyle/>
                    <a:p>
                      <a:pPr algn="r" indent="0" marL="0">
                        <a:lnSpc>
                          <a:spcPts val="1680"/>
                        </a:lnSpc>
                        <a:buNone/>
                      </a:pPr>
                      <a:r>
                        <a:rPr lang="en-US" sz="1200" b="1" dirty="0">
                          <a:solidFill>
                            <a:srgbClr val="12273F"/>
                          </a:solidFill>
                          <a:latin typeface="Inter" pitchFamily="34" charset="0"/>
                          <a:ea typeface="Inter" pitchFamily="34" charset="-122"/>
                          <a:cs typeface="Inter" pitchFamily="34" charset="-120"/>
                        </a:rPr>
                        <a:t>[Q1]</a:t>
                      </a:r>
                      <a:endParaRPr lang="en-US" sz="1200" dirty="0">
                        <a:latin typeface="Inter" charset="0"/>
                        <a:ea typeface="Inter" charset="0"/>
                        <a:cs typeface="Inter" charset="0"/>
                      </a:endParaRPr>
                    </a:p>
                  </a:txBody>
                  <a:tcPr marL="53340" marR="53340" marT="53340" marB="53340" anchor="t">
                    <a:lnL w="12700" cap="flat" cmpd="sng" algn="ctr">
                      <a:solidFill>
                        <a:srgbClr val="B9BABC"/>
                      </a:solidFill>
                      <a:prstDash val="solid"/>
                      <a:round/>
                      <a:headEnd type="none" w="med" len="med"/>
                      <a:tailEnd type="none" w="med" len="med"/>
                    </a:lnL>
                    <a:lnR w="12700" cap="flat" cmpd="sng" algn="ctr">
                      <a:solidFill>
                        <a:srgbClr val="B9BABC"/>
                      </a:solidFill>
                      <a:prstDash val="solid"/>
                      <a:round/>
                      <a:headEnd type="none" w="med" len="med"/>
                      <a:tailEnd type="none" w="med" len="med"/>
                    </a:lnR>
                    <a:lnT w="0" cap="flat" cmpd="sng" algn="ctr">
                      <a:noFill/>
                    </a:lnT>
                    <a:lnB w="12700" cap="flat" cmpd="sng" algn="ctr">
                      <a:solidFill>
                        <a:srgbClr val="B9BABC"/>
                      </a:solidFill>
                      <a:prstDash val="solid"/>
                      <a:round/>
                      <a:headEnd type="none" w="med" len="med"/>
                      <a:tailEnd type="none" w="med" len="med"/>
                    </a:lnB>
                    <a:solidFill>
                      <a:srgbClr val="E7E9EC"/>
                    </a:solidFill>
                  </a:tcPr>
                </a:tc>
                <a:tc>
                  <a:txBody>
                    <a:bodyPr/>
                    <a:lstStyle/>
                    <a:p>
                      <a:pPr algn="r" indent="0" marL="0">
                        <a:lnSpc>
                          <a:spcPts val="1680"/>
                        </a:lnSpc>
                        <a:buNone/>
                      </a:pPr>
                      <a:r>
                        <a:rPr lang="en-US" sz="1200" b="1" dirty="0">
                          <a:solidFill>
                            <a:srgbClr val="12273F"/>
                          </a:solidFill>
                          <a:latin typeface="Inter" pitchFamily="34" charset="0"/>
                          <a:ea typeface="Inter" pitchFamily="34" charset="-122"/>
                          <a:cs typeface="Inter" pitchFamily="34" charset="-120"/>
                        </a:rPr>
                        <a:t>[Q2]</a:t>
                      </a:r>
                      <a:endParaRPr lang="en-US" sz="1200" dirty="0">
                        <a:latin typeface="Inter" charset="0"/>
                        <a:ea typeface="Inter" charset="0"/>
                        <a:cs typeface="Inter" charset="0"/>
                      </a:endParaRPr>
                    </a:p>
                  </a:txBody>
                  <a:tcPr marL="53340" marR="53340" marT="53340" marB="53340" anchor="t">
                    <a:lnL w="12700" cap="flat" cmpd="sng" algn="ctr">
                      <a:solidFill>
                        <a:srgbClr val="B9BABC"/>
                      </a:solidFill>
                      <a:prstDash val="solid"/>
                      <a:round/>
                      <a:headEnd type="none" w="med" len="med"/>
                      <a:tailEnd type="none" w="med" len="med"/>
                    </a:lnL>
                    <a:lnR w="12700" cap="flat" cmpd="sng" algn="ctr">
                      <a:solidFill>
                        <a:srgbClr val="B9BABC"/>
                      </a:solidFill>
                      <a:prstDash val="solid"/>
                      <a:round/>
                      <a:headEnd type="none" w="med" len="med"/>
                      <a:tailEnd type="none" w="med" len="med"/>
                    </a:lnR>
                    <a:lnT w="0" cap="flat" cmpd="sng" algn="ctr">
                      <a:noFill/>
                    </a:lnT>
                    <a:lnB w="12700" cap="flat" cmpd="sng" algn="ctr">
                      <a:solidFill>
                        <a:srgbClr val="B9BABC"/>
                      </a:solidFill>
                      <a:prstDash val="solid"/>
                      <a:round/>
                      <a:headEnd type="none" w="med" len="med"/>
                      <a:tailEnd type="none" w="med" len="med"/>
                    </a:lnB>
                    <a:solidFill>
                      <a:srgbClr val="E7E9EC"/>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A5C4C3"/>
                      </a:solidFill>
                      <a:prstDash val="solid"/>
                      <a:round/>
                      <a:headEnd type="none" w="med" len="med"/>
                      <a:tailEnd type="none" w="med" len="med"/>
                    </a:lnR>
                    <a:lnT w="12700" cap="flat" cmpd="sng" algn="ctr">
                      <a:solidFill>
                        <a:srgbClr val="B9BABC"/>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algn="r" indent="0" marL="0">
                        <a:lnSpc>
                          <a:spcPts val="1680"/>
                        </a:lnSpc>
                        <a:buNone/>
                      </a:pPr>
                      <a:r>
                        <a:rPr lang="en-US" sz="1200" dirty="0">
                          <a:solidFill>
                            <a:srgbClr val="12273F"/>
                          </a:solidFill>
                          <a:latin typeface="Inter" pitchFamily="34" charset="0"/>
                          <a:ea typeface="Inter" pitchFamily="34" charset="-122"/>
                          <a:cs typeface="Inter" pitchFamily="34" charset="-120"/>
                        </a:rPr>
                        <a:t>[80]</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B9BABC"/>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algn="r" indent="0" marL="0">
                        <a:lnSpc>
                          <a:spcPts val="1680"/>
                        </a:lnSpc>
                        <a:buNone/>
                      </a:pPr>
                      <a:r>
                        <a:rPr lang="en-US" sz="1200" dirty="0">
                          <a:solidFill>
                            <a:srgbClr val="12273F"/>
                          </a:solidFill>
                          <a:latin typeface="Inter" pitchFamily="34" charset="0"/>
                          <a:ea typeface="Inter" pitchFamily="34" charset="-122"/>
                          <a:cs typeface="Inter" pitchFamily="34" charset="-120"/>
                        </a:rPr>
                        <a:t>100</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B9BABC"/>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r>
            </a:tbl>
          </a:graphicData>
        </a:graphic>
      </p:graphicFrame>
      <p:sp>
        <p:nvSpPr>
          <p:cNvPr id="13" name="Text 10"/>
          <p:cNvSpPr/>
          <p:nvPr/>
        </p:nvSpPr>
        <p:spPr>
          <a:xfrm>
            <a:off x="1008138" y="3223344"/>
            <a:ext cx="2779070" cy="1061660"/>
          </a:xfrm>
          <a:prstGeom prst="rect">
            <a:avLst/>
          </a:prstGeom>
          <a:solidFill>
            <a:srgbClr val="FFFFFF"/>
          </a:solidFill>
          <a:ln/>
        </p:spPr>
        <p:txBody>
          <a:bodyPr wrap="square" lIns="150586" tIns="88900" rIns="38874" bIns="63500" rtlCol="0" anchor="t">
            <a:normAutofit/>
          </a:bodyPr>
          <a:lstStyle/>
          <a:p>
            <a:pPr algn="l" indent="0" marL="0">
              <a:lnSpc>
                <a:spcPts val="1740"/>
              </a:lnSpc>
              <a:buNone/>
            </a:pPr>
            <a:r>
              <a:rPr lang="en-US" sz="1200" i="1" dirty="0">
                <a:solidFill>
                  <a:srgbClr val="12273F"/>
                </a:solidFill>
                <a:latin typeface="Inter" pitchFamily="34" charset="0"/>
                <a:ea typeface="Inter" pitchFamily="34" charset="-122"/>
                <a:cs typeface="Inter" pitchFamily="34" charset="-120"/>
              </a:rPr>
              <a:t>"Stage 3 loans rose to £100m, driven by higher arrears in the [buy-to-let] book as [refinancing costs] increased."</a:t>
            </a:r>
            <a:endParaRPr lang="en-US" sz="1200" dirty="0"/>
          </a:p>
        </p:txBody>
      </p:sp>
      <p:sp>
        <p:nvSpPr>
          <p:cNvPr id="14" name="Shape 11"/>
          <p:cNvSpPr/>
          <p:nvPr/>
        </p:nvSpPr>
        <p:spPr>
          <a:xfrm>
            <a:off x="1027188" y="3223344"/>
            <a:ext cx="0" cy="1061660"/>
          </a:xfrm>
          <a:prstGeom prst="line">
            <a:avLst/>
          </a:prstGeom>
          <a:noFill/>
          <a:ln w="38100">
            <a:solidFill>
              <a:srgbClr val="FF7300"/>
            </a:solidFill>
            <a:prstDash val="solid"/>
          </a:ln>
        </p:spPr>
      </p:sp>
      <p:pic>
        <p:nvPicPr>
          <p:cNvPr id="15" name="Image 0" descr="arrow-right">    </p:cNvPr>
          <p:cNvPicPr>
            <a:picLocks noChangeAspect="1"/>
          </p:cNvPicPr>
          <p:nvPr/>
        </p:nvPicPr>
        <p:blipFill>
          <a:blip r:embed="rId1"/>
          <a:srcRect l="0" r="0" t="0" b="0"/>
          <a:stretch/>
        </p:blipFill>
        <p:spPr>
          <a:xfrm>
            <a:off x="4109546" y="2927238"/>
            <a:ext cx="279400" cy="139700"/>
          </a:xfrm>
          <a:prstGeom prst="rect">
            <a:avLst/>
          </a:prstGeom>
        </p:spPr>
      </p:pic>
      <p:sp>
        <p:nvSpPr>
          <p:cNvPr id="16" name="Shape 12"/>
          <p:cNvSpPr/>
          <p:nvPr/>
        </p:nvSpPr>
        <p:spPr>
          <a:xfrm>
            <a:off x="4519121" y="1517008"/>
            <a:ext cx="3163434" cy="2960158"/>
          </a:xfrm>
          <a:prstGeom prst="roundRect">
            <a:avLst>
              <a:gd name="adj" fmla="val 4183"/>
            </a:avLst>
          </a:prstGeom>
          <a:solidFill>
            <a:srgbClr val="F6F6F6"/>
          </a:solidFill>
          <a:ln w="6350">
            <a:solidFill>
              <a:srgbClr val="E7E9EC"/>
            </a:solidFill>
            <a:prstDash val="solid"/>
          </a:ln>
        </p:spPr>
      </p:sp>
      <p:sp>
        <p:nvSpPr>
          <p:cNvPr id="17" name="Text 13"/>
          <p:cNvSpPr/>
          <p:nvPr/>
        </p:nvSpPr>
        <p:spPr>
          <a:xfrm>
            <a:off x="4711284" y="1709170"/>
            <a:ext cx="2862481"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2 · EXTRACTED</a:t>
            </a:r>
            <a:endParaRPr lang="en-US" sz="1200" dirty="0"/>
          </a:p>
        </p:txBody>
      </p:sp>
      <p:sp>
        <p:nvSpPr>
          <p:cNvPr id="18" name="Shape 14"/>
          <p:cNvSpPr/>
          <p:nvPr/>
        </p:nvSpPr>
        <p:spPr>
          <a:xfrm>
            <a:off x="4714459" y="2014575"/>
            <a:ext cx="2772758" cy="671286"/>
          </a:xfrm>
          <a:prstGeom prst="roundRect">
            <a:avLst>
              <a:gd name="adj" fmla="val 10878"/>
            </a:avLst>
          </a:prstGeom>
          <a:solidFill>
            <a:srgbClr val="FFFFFF"/>
          </a:solidFill>
          <a:ln w="6350">
            <a:solidFill>
              <a:srgbClr val="E7E9EC"/>
            </a:solidFill>
            <a:prstDash val="solid"/>
          </a:ln>
        </p:spPr>
      </p:sp>
      <p:sp>
        <p:nvSpPr>
          <p:cNvPr id="19" name="Text 15"/>
          <p:cNvSpPr/>
          <p:nvPr/>
        </p:nvSpPr>
        <p:spPr>
          <a:xfrm>
            <a:off x="4843123" y="2117840"/>
            <a:ext cx="2590894"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Quantitative claim</a:t>
            </a:r>
            <a:endParaRPr lang="en-US" sz="1200" dirty="0"/>
          </a:p>
        </p:txBody>
      </p:sp>
      <p:sp>
        <p:nvSpPr>
          <p:cNvPr id="20" name="Text 16"/>
          <p:cNvSpPr/>
          <p:nvPr/>
        </p:nvSpPr>
        <p:spPr>
          <a:xfrm>
            <a:off x="4843123" y="2369269"/>
            <a:ext cx="2640919"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 · £100m · [Q2 2026]</a:t>
            </a:r>
            <a:endParaRPr lang="en-US" sz="1200" dirty="0"/>
          </a:p>
        </p:txBody>
      </p:sp>
      <p:sp>
        <p:nvSpPr>
          <p:cNvPr id="21" name="Shape 17"/>
          <p:cNvSpPr/>
          <p:nvPr/>
        </p:nvSpPr>
        <p:spPr>
          <a:xfrm>
            <a:off x="4714459" y="2781111"/>
            <a:ext cx="2772758" cy="1136045"/>
          </a:xfrm>
          <a:prstGeom prst="roundRect">
            <a:avLst>
              <a:gd name="adj" fmla="val 6428"/>
            </a:avLst>
          </a:prstGeom>
          <a:solidFill>
            <a:srgbClr val="FFFFFF"/>
          </a:solidFill>
          <a:ln w="6350">
            <a:solidFill>
              <a:srgbClr val="E7E9EC"/>
            </a:solidFill>
            <a:prstDash val="solid"/>
          </a:ln>
        </p:spPr>
      </p:sp>
      <p:sp>
        <p:nvSpPr>
          <p:cNvPr id="22" name="Text 18"/>
          <p:cNvSpPr/>
          <p:nvPr/>
        </p:nvSpPr>
        <p:spPr>
          <a:xfrm>
            <a:off x="4843123" y="2884376"/>
            <a:ext cx="2590894" cy="2387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15265"/>
                </a:solidFill>
                <a:latin typeface="Inter" pitchFamily="34" charset="0"/>
                <a:ea typeface="Inter" pitchFamily="34" charset="-122"/>
                <a:cs typeface="Inter" pitchFamily="34" charset="-120"/>
              </a:rPr>
              <a:t>Narrative claim</a:t>
            </a:r>
            <a:endParaRPr lang="en-US" sz="1200" dirty="0"/>
          </a:p>
        </p:txBody>
      </p:sp>
      <p:sp>
        <p:nvSpPr>
          <p:cNvPr id="23" name="Text 19"/>
          <p:cNvSpPr/>
          <p:nvPr/>
        </p:nvSpPr>
        <p:spPr>
          <a:xfrm>
            <a:off x="4843123" y="3135805"/>
            <a:ext cx="2640919"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73F"/>
                </a:solidFill>
                <a:latin typeface="Inter" pitchFamily="34" charset="0"/>
                <a:ea typeface="Inter" pitchFamily="34" charset="-122"/>
                <a:cs typeface="Inter" pitchFamily="34" charset="-120"/>
              </a:rPr>
              <a:t>Rise driven by [buy-to-let] arrears</a:t>
            </a:r>
            <a:endParaRPr lang="en-US" sz="1200" dirty="0"/>
          </a:p>
        </p:txBody>
      </p:sp>
      <p:sp>
        <p:nvSpPr>
          <p:cNvPr id="24" name="Text 20"/>
          <p:cNvSpPr/>
          <p:nvPr/>
        </p:nvSpPr>
        <p:spPr>
          <a:xfrm>
            <a:off x="4843123" y="3387235"/>
            <a:ext cx="2590894"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Explains: Stage 3 loans · Source: page [12]</a:t>
            </a:r>
            <a:endParaRPr lang="en-US" sz="1200" dirty="0"/>
          </a:p>
        </p:txBody>
      </p:sp>
      <p:pic>
        <p:nvPicPr>
          <p:cNvPr id="25" name="Image 1" descr="arrow-right">    </p:cNvPr>
          <p:cNvPicPr>
            <a:picLocks noChangeAspect="1"/>
          </p:cNvPicPr>
          <p:nvPr/>
        </p:nvPicPr>
        <p:blipFill>
          <a:blip r:embed="rId2"/>
          <a:srcRect l="0" r="0" t="0" b="0"/>
          <a:stretch/>
        </p:blipFill>
        <p:spPr>
          <a:xfrm>
            <a:off x="7812730" y="2927238"/>
            <a:ext cx="279400" cy="139700"/>
          </a:xfrm>
          <a:prstGeom prst="rect">
            <a:avLst/>
          </a:prstGeom>
        </p:spPr>
      </p:pic>
      <p:sp>
        <p:nvSpPr>
          <p:cNvPr id="26" name="Shape 21"/>
          <p:cNvSpPr/>
          <p:nvPr/>
        </p:nvSpPr>
        <p:spPr>
          <a:xfrm>
            <a:off x="8219130" y="1513833"/>
            <a:ext cx="3160070" cy="2966508"/>
          </a:xfrm>
          <a:prstGeom prst="roundRect">
            <a:avLst>
              <a:gd name="adj" fmla="val 4281"/>
            </a:avLst>
          </a:prstGeom>
          <a:solidFill>
            <a:srgbClr val="12273F"/>
          </a:solidFill>
          <a:ln/>
        </p:spPr>
      </p:sp>
      <p:sp>
        <p:nvSpPr>
          <p:cNvPr id="27" name="Text 22"/>
          <p:cNvSpPr/>
          <p:nvPr/>
        </p:nvSpPr>
        <p:spPr>
          <a:xfrm>
            <a:off x="8409630" y="1704333"/>
            <a:ext cx="2862442"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3 · ASKED IN GENIE</a:t>
            </a:r>
            <a:endParaRPr lang="en-US" sz="1200" dirty="0"/>
          </a:p>
        </p:txBody>
      </p:sp>
      <p:sp>
        <p:nvSpPr>
          <p:cNvPr id="28" name="Text 23"/>
          <p:cNvSpPr/>
          <p:nvPr/>
        </p:nvSpPr>
        <p:spPr>
          <a:xfrm>
            <a:off x="8409630" y="2006563"/>
            <a:ext cx="2779070" cy="623510"/>
          </a:xfrm>
          <a:prstGeom prst="roundRect">
            <a:avLst>
              <a:gd name="adj" fmla="val 16295"/>
            </a:avLst>
          </a:prstGeom>
          <a:solidFill>
            <a:srgbClr val="415265"/>
          </a:solidFill>
          <a:ln/>
        </p:spPr>
        <p:txBody>
          <a:bodyPr wrap="square" lIns="97242" tIns="59142" rIns="21490" bIns="33742"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Why did [Firm A]'s Stage 3 loans rise in [Q2]?</a:t>
            </a:r>
            <a:endParaRPr lang="en-US" sz="1300" dirty="0"/>
          </a:p>
        </p:txBody>
      </p:sp>
      <p:sp>
        <p:nvSpPr>
          <p:cNvPr id="29" name="Text 24"/>
          <p:cNvSpPr/>
          <p:nvPr/>
        </p:nvSpPr>
        <p:spPr>
          <a:xfrm>
            <a:off x="8409630" y="2718972"/>
            <a:ext cx="2779070" cy="1066800"/>
          </a:xfrm>
          <a:prstGeom prst="roundRect">
            <a:avLst>
              <a:gd name="adj" fmla="val 9524"/>
            </a:avLst>
          </a:prstGeom>
          <a:solidFill>
            <a:srgbClr val="FFFFFF"/>
          </a:solidFill>
          <a:ln/>
        </p:spPr>
        <p:txBody>
          <a:bodyPr wrap="square" lIns="97242" tIns="59142" rIns="21490" bIns="33742" rtlCol="0" anchor="t">
            <a:normAutofit/>
          </a:bodyPr>
          <a:lstStyle/>
          <a:p>
            <a:pPr algn="l" indent="0" marL="0">
              <a:lnSpc>
                <a:spcPts val="1750"/>
              </a:lnSpc>
              <a:buNone/>
            </a:pPr>
            <a:r>
              <a:rPr lang="en-US" sz="1250" dirty="0">
                <a:solidFill>
                  <a:srgbClr val="12273F"/>
                </a:solidFill>
                <a:latin typeface="Inter" pitchFamily="34" charset="0"/>
                <a:ea typeface="Inter" pitchFamily="34" charset="-122"/>
                <a:cs typeface="Inter" pitchFamily="34" charset="-120"/>
              </a:rPr>
              <a:t>Stage 3 loans rose from £[80]m to £100m. The firm attributes this to higher [buy-to-let] arrears (page [12]).</a:t>
            </a:r>
            <a:endParaRPr lang="en-US" sz="1250" dirty="0"/>
          </a:p>
        </p:txBody>
      </p:sp>
      <p:sp>
        <p:nvSpPr>
          <p:cNvPr id="30" name="Text 25"/>
          <p:cNvSpPr/>
          <p:nvPr/>
        </p:nvSpPr>
        <p:spPr>
          <a:xfrm>
            <a:off x="8409630" y="3874672"/>
            <a:ext cx="531699" cy="289530"/>
          </a:xfrm>
          <a:custGeom>
            <a:avLst/>
            <a:gdLst/>
            <a:ahLst/>
            <a:cxnLst/>
            <a:rect l="l" t="t" r="r" b="b"/>
            <a:pathLst>
              <a:path w="531699" h="289530">
                <a:moveTo>
                  <a:pt x="144765" y="0"/>
                </a:moveTo>
                <a:lnTo>
                  <a:pt x="386934" y="0"/>
                </a:lnTo>
                <a:arcTo hR="144765" wR="144765" stAng="16200000" swAng="5400000"/>
                <a:lnTo>
                  <a:pt x="531699"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SQL</a:t>
            </a:r>
            <a:endParaRPr lang="en-US" sz="1200" dirty="0"/>
          </a:p>
        </p:txBody>
      </p:sp>
      <p:sp>
        <p:nvSpPr>
          <p:cNvPr id="31" name="Text 26"/>
          <p:cNvSpPr/>
          <p:nvPr/>
        </p:nvSpPr>
        <p:spPr>
          <a:xfrm>
            <a:off x="9004829" y="3874672"/>
            <a:ext cx="630691" cy="289530"/>
          </a:xfrm>
          <a:custGeom>
            <a:avLst/>
            <a:gdLst/>
            <a:ahLst/>
            <a:cxnLst/>
            <a:rect l="l" t="t" r="r" b="b"/>
            <a:pathLst>
              <a:path w="630691" h="289530">
                <a:moveTo>
                  <a:pt x="144765" y="0"/>
                </a:moveTo>
                <a:lnTo>
                  <a:pt x="485926" y="0"/>
                </a:lnTo>
                <a:arcTo hR="144765" wR="144765" stAng="16200000" swAng="5400000"/>
                <a:lnTo>
                  <a:pt x="630691"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Table</a:t>
            </a:r>
            <a:endParaRPr lang="en-US" sz="1200" dirty="0"/>
          </a:p>
        </p:txBody>
      </p:sp>
      <p:sp>
        <p:nvSpPr>
          <p:cNvPr id="32" name="Text 27"/>
          <p:cNvSpPr/>
          <p:nvPr/>
        </p:nvSpPr>
        <p:spPr>
          <a:xfrm>
            <a:off x="9699020" y="3874672"/>
            <a:ext cx="749905" cy="289530"/>
          </a:xfrm>
          <a:custGeom>
            <a:avLst/>
            <a:gdLst/>
            <a:ahLst/>
            <a:cxnLst/>
            <a:rect l="l" t="t" r="r" b="b"/>
            <a:pathLst>
              <a:path w="749905" h="289530">
                <a:moveTo>
                  <a:pt x="144765" y="0"/>
                </a:moveTo>
                <a:lnTo>
                  <a:pt x="605140" y="0"/>
                </a:lnTo>
                <a:arcTo hR="144765" wR="144765" stAng="16200000" swAng="5400000"/>
                <a:lnTo>
                  <a:pt x="749905" y="144765"/>
                </a:lnTo>
                <a:arcTo hR="144765" wR="144765" stAng="0" swAng="5400000"/>
                <a:lnTo>
                  <a:pt x="144765" y="289530"/>
                </a:lnTo>
                <a:arcTo hR="144765" wR="144765" stAng="5400000" swAng="5400000"/>
                <a:lnTo>
                  <a:pt x="0" y="144765"/>
                </a:lnTo>
                <a:arcTo hR="144765" wR="144765" stAng="10800000" swAng="5400000"/>
                <a:close/>
              </a:path>
            </a:pathLst>
          </a:cu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Source</a:t>
            </a:r>
            <a:endParaRPr lang="en-US" sz="1200" dirty="0"/>
          </a:p>
        </p:txBody>
      </p:sp>
      <p:sp>
        <p:nvSpPr>
          <p:cNvPr id="33" name="Shape 28"/>
          <p:cNvSpPr/>
          <p:nvPr/>
        </p:nvSpPr>
        <p:spPr>
          <a:xfrm>
            <a:off x="812800" y="4734340"/>
            <a:ext cx="10566400" cy="584200"/>
          </a:xfrm>
          <a:prstGeom prst="roundRect">
            <a:avLst>
              <a:gd name="adj" fmla="val 21739"/>
            </a:avLst>
          </a:prstGeom>
          <a:solidFill>
            <a:srgbClr val="CEF5F5"/>
          </a:solidFill>
          <a:ln/>
        </p:spPr>
      </p:sp>
      <p:pic>
        <p:nvPicPr>
          <p:cNvPr id="34" name="Image 2" descr="Search">    </p:cNvPr>
          <p:cNvPicPr>
            <a:picLocks noChangeAspect="1"/>
          </p:cNvPicPr>
          <p:nvPr/>
        </p:nvPicPr>
        <p:blipFill>
          <a:blip r:embed="rId3"/>
          <a:srcRect l="0" r="0" t="0" b="0"/>
          <a:stretch/>
        </p:blipFill>
        <p:spPr>
          <a:xfrm>
            <a:off x="1066800" y="4886740"/>
            <a:ext cx="279400" cy="279400"/>
          </a:xfrm>
          <a:prstGeom prst="rect">
            <a:avLst/>
          </a:prstGeom>
        </p:spPr>
      </p:pic>
      <p:sp>
        <p:nvSpPr>
          <p:cNvPr id="35" name="Text 29"/>
          <p:cNvSpPr/>
          <p:nvPr/>
        </p:nvSpPr>
        <p:spPr>
          <a:xfrm>
            <a:off x="1498600" y="4901977"/>
            <a:ext cx="9915398"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73F"/>
                </a:solidFill>
                <a:latin typeface="Inter" pitchFamily="34" charset="0"/>
                <a:ea typeface="Inter" pitchFamily="34" charset="-122"/>
                <a:cs typeface="Inter" pitchFamily="34" charset="-120"/>
              </a:rPr>
              <a:t>Numbers say </a:t>
            </a:r>
            <a:r>
              <a:rPr lang="en-US" sz="1400" b="1" dirty="0">
                <a:solidFill>
                  <a:srgbClr val="12273F"/>
                </a:solidFill>
                <a:latin typeface="Inter" pitchFamily="34" charset="0"/>
                <a:ea typeface="Inter" pitchFamily="34" charset="-122"/>
                <a:cs typeface="Inter" pitchFamily="34" charset="-120"/>
              </a:rPr>
              <a:t>what</a:t>
            </a:r>
            <a:r>
              <a:rPr lang="en-US" sz="1400" dirty="0">
                <a:solidFill>
                  <a:srgbClr val="12273F"/>
                </a:solidFill>
                <a:latin typeface="Inter" pitchFamily="34" charset="0"/>
                <a:ea typeface="Inter" pitchFamily="34" charset="-122"/>
                <a:cs typeface="Inter" pitchFamily="34" charset="-120"/>
              </a:rPr>
              <a:t> happened; narrative says </a:t>
            </a:r>
            <a:r>
              <a:rPr lang="en-US" sz="1400" b="1" dirty="0">
                <a:solidFill>
                  <a:srgbClr val="12273F"/>
                </a:solidFill>
                <a:latin typeface="Inter" pitchFamily="34" charset="0"/>
                <a:ea typeface="Inter" pitchFamily="34" charset="-122"/>
                <a:cs typeface="Inter" pitchFamily="34" charset="-120"/>
              </a:rPr>
              <a:t>why</a:t>
            </a:r>
            <a:r>
              <a:rPr lang="en-US" sz="1400" dirty="0">
                <a:solidFill>
                  <a:srgbClr val="12273F"/>
                </a:solidFill>
                <a:latin typeface="Inter" pitchFamily="34" charset="0"/>
                <a:ea typeface="Inter" pitchFamily="34" charset="-122"/>
                <a:cs typeface="Inter" pitchFamily="34" charset="-120"/>
              </a:rPr>
              <a:t>. Linking them lets Genie answer both, with the source page.</a:t>
            </a:r>
            <a:endParaRPr lang="en-US" sz="1400" dirty="0"/>
          </a:p>
        </p:txBody>
      </p:sp>
      <p:sp>
        <p:nvSpPr>
          <p:cNvPr id="36" name="Text 30"/>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Why not just use a copilot or a chatbot?</a:t>
            </a:r>
            <a:endParaRPr lang="en-US" sz="3200" dirty="0"/>
          </a:p>
        </p:txBody>
      </p:sp>
      <p:sp>
        <p:nvSpPr>
          <p:cNvPr id="4" name="Shape 2"/>
          <p:cNvSpPr/>
          <p:nvPr/>
        </p:nvSpPr>
        <p:spPr>
          <a:xfrm>
            <a:off x="812800" y="1488436"/>
            <a:ext cx="10566400" cy="3133952"/>
          </a:xfrm>
          <a:prstGeom prst="rect">
            <a:avLst/>
          </a:prstGeom>
          <a:solidFill>
            <a:srgbClr val="FFFFFF"/>
          </a:solidFill>
          <a:ln/>
        </p:spPr>
      </p:sp>
      <p:sp>
        <p:nvSpPr>
          <p:cNvPr id="5" name="Shape 3"/>
          <p:cNvSpPr/>
          <p:nvPr/>
        </p:nvSpPr>
        <p:spPr>
          <a:xfrm>
            <a:off x="11376025" y="1488436"/>
            <a:ext cx="0" cy="3133952"/>
          </a:xfrm>
          <a:prstGeom prst="line">
            <a:avLst/>
          </a:prstGeom>
          <a:noFill/>
          <a:ln w="6350">
            <a:solidFill>
              <a:srgbClr val="E7E9EC"/>
            </a:solidFill>
            <a:prstDash val="solid"/>
          </a:ln>
        </p:spPr>
      </p:sp>
      <p:sp>
        <p:nvSpPr>
          <p:cNvPr id="6" name="Shape 4"/>
          <p:cNvSpPr/>
          <p:nvPr/>
        </p:nvSpPr>
        <p:spPr>
          <a:xfrm>
            <a:off x="812800" y="4619213"/>
            <a:ext cx="10566400" cy="0"/>
          </a:xfrm>
          <a:prstGeom prst="line">
            <a:avLst/>
          </a:prstGeom>
          <a:noFill/>
          <a:ln w="6350">
            <a:solidFill>
              <a:srgbClr val="E7E9EC"/>
            </a:solidFill>
            <a:prstDash val="solid"/>
          </a:ln>
        </p:spPr>
      </p:sp>
      <p:sp>
        <p:nvSpPr>
          <p:cNvPr id="7" name="Shape 5"/>
          <p:cNvSpPr/>
          <p:nvPr/>
        </p:nvSpPr>
        <p:spPr>
          <a:xfrm>
            <a:off x="812800" y="1494484"/>
            <a:ext cx="10566400" cy="0"/>
          </a:xfrm>
          <a:prstGeom prst="line">
            <a:avLst/>
          </a:prstGeom>
          <a:noFill/>
          <a:ln w="12095">
            <a:solidFill>
              <a:srgbClr val="141413">
                <a:alpha val="22000"/>
              </a:srgbClr>
            </a:solidFill>
            <a:prstDash val="solid"/>
          </a:ln>
        </p:spPr>
      </p:sp>
      <p:sp>
        <p:nvSpPr>
          <p:cNvPr id="8" name="Shape 6"/>
          <p:cNvSpPr/>
          <p:nvPr/>
        </p:nvSpPr>
        <p:spPr>
          <a:xfrm>
            <a:off x="818848" y="1488436"/>
            <a:ext cx="0" cy="3133952"/>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9195" y="1576732"/>
          <a:ext cx="10320867" cy="2964619"/>
        </p:xfrm>
        <a:graphic>
          <a:graphicData uri="http://schemas.openxmlformats.org/drawingml/2006/table">
            <a:tbl>
              <a:tblPr/>
              <a:tblGrid>
                <a:gridCol w="2270591"/>
                <a:gridCol w="2683425"/>
                <a:gridCol w="2683425"/>
                <a:gridCol w="2683425"/>
              </a:tblGrid>
              <a:tr h="33209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General chatbot</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Copilot over documents</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3CD7D9"/>
                          </a:solidFill>
                          <a:latin typeface="Inter" pitchFamily="34" charset="0"/>
                          <a:ea typeface="Inter" pitchFamily="34" charset="-122"/>
                          <a:cs typeface="Inter" pitchFamily="34" charset="-120"/>
                        </a:rPr>
                        <a:t>Genie on extracted data</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Answers come from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Model memory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 few retrieved text chunks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Governed tables built from every 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Many firms, many periods</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Cannot see our data</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Sees a handful of passages, misses the rest</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Every row, aggregated with SQL</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Arithmetic</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Done by the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Done by the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Done by the database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Audit trail</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None</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Links to passages</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SQL plus source page per number</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Definitions</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Whatever the model assumes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Whatever each pack calls 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One agreed metric dictionary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Access control</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Outside our data estate</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Document permissions</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Unity Catalog permissions per user</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bl>
          </a:graphicData>
        </a:graphic>
      </p:graphicFrame>
      <p:sp>
        <p:nvSpPr>
          <p:cNvPr id="10" name="Text 7"/>
          <p:cNvSpPr/>
          <p:nvPr/>
        </p:nvSpPr>
        <p:spPr>
          <a:xfrm>
            <a:off x="812800" y="4850985"/>
            <a:ext cx="10883392" cy="52319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The gap:</a:t>
            </a:r>
            <a:r>
              <a:rPr lang="en-US" sz="1400" dirty="0">
                <a:solidFill>
                  <a:srgbClr val="12273F"/>
                </a:solidFill>
                <a:latin typeface="Inter" pitchFamily="34" charset="0"/>
                <a:ea typeface="Inter" pitchFamily="34" charset="-122"/>
                <a:cs typeface="Inter" pitchFamily="34" charset="-120"/>
              </a:rPr>
              <a:t> copilots are good at reading and drafting. Supervisory questions are quantitative and span many documents, which needs structured data.</a:t>
            </a:r>
            <a:endParaRPr lang="en-US" sz="1400" dirty="0"/>
          </a:p>
        </p:txBody>
      </p:sp>
      <p:sp>
        <p:nvSpPr>
          <p:cNvPr id="11" name="Text 8"/>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7"/>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2 OF 4</a:t>
            </a:r>
            <a:endParaRPr lang="en-US" sz="1300" dirty="0"/>
          </a:p>
        </p:txBody>
      </p:sp>
      <p:sp>
        <p:nvSpPr>
          <p:cNvPr id="5" name="Text 3"/>
          <p:cNvSpPr/>
          <p:nvPr>
            <p:ph type="title"/>
          </p:nvPr>
        </p:nvSpPr>
        <p:spPr>
          <a:xfrm>
            <a:off x="812800" y="4968273"/>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How it works</a:t>
            </a:r>
            <a:endParaRPr lang="en-US" sz="4800" dirty="0"/>
          </a:p>
        </p:txBody>
      </p:sp>
      <p:sp>
        <p:nvSpPr>
          <p:cNvPr id="6" name="Text 4"/>
          <p:cNvSpPr/>
          <p:nvPr/>
        </p:nvSpPr>
        <p:spPr>
          <a:xfrm>
            <a:off x="812800" y="5760734"/>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The data model, Genie configuration and Agent mode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Genie sees: numbers, narrative and context</a:t>
            </a:r>
            <a:endParaRPr lang="en-US" sz="3200" dirty="0"/>
          </a:p>
        </p:txBody>
      </p:sp>
      <p:sp>
        <p:nvSpPr>
          <p:cNvPr id="4" name="Text 2"/>
          <p:cNvSpPr/>
          <p:nvPr/>
        </p:nvSpPr>
        <p:spPr>
          <a:xfrm>
            <a:off x="812800" y="1513836"/>
            <a:ext cx="5723405"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NUMBERS · ONE ROW PER FIGURE</a:t>
            </a:r>
            <a:endParaRPr lang="en-US" sz="1200" dirty="0"/>
          </a:p>
        </p:txBody>
      </p:sp>
      <p:sp>
        <p:nvSpPr>
          <p:cNvPr id="5" name="Shape 3"/>
          <p:cNvSpPr/>
          <p:nvPr/>
        </p:nvSpPr>
        <p:spPr>
          <a:xfrm>
            <a:off x="812800" y="1816063"/>
            <a:ext cx="5556704" cy="1497693"/>
          </a:xfrm>
          <a:prstGeom prst="rect">
            <a:avLst/>
          </a:prstGeom>
          <a:solidFill>
            <a:srgbClr val="FFFFFF"/>
          </a:solidFill>
          <a:ln/>
        </p:spPr>
      </p:sp>
      <p:sp>
        <p:nvSpPr>
          <p:cNvPr id="6" name="Shape 4"/>
          <p:cNvSpPr/>
          <p:nvPr/>
        </p:nvSpPr>
        <p:spPr>
          <a:xfrm>
            <a:off x="6366329" y="1816063"/>
            <a:ext cx="0" cy="1497693"/>
          </a:xfrm>
          <a:prstGeom prst="line">
            <a:avLst/>
          </a:prstGeom>
          <a:noFill/>
          <a:ln w="6350">
            <a:solidFill>
              <a:srgbClr val="E7E9EC"/>
            </a:solidFill>
            <a:prstDash val="solid"/>
          </a:ln>
        </p:spPr>
      </p:sp>
      <p:sp>
        <p:nvSpPr>
          <p:cNvPr id="7" name="Shape 5"/>
          <p:cNvSpPr/>
          <p:nvPr/>
        </p:nvSpPr>
        <p:spPr>
          <a:xfrm>
            <a:off x="812800" y="3310581"/>
            <a:ext cx="5556704" cy="0"/>
          </a:xfrm>
          <a:prstGeom prst="line">
            <a:avLst/>
          </a:prstGeom>
          <a:noFill/>
          <a:ln w="6350">
            <a:solidFill>
              <a:srgbClr val="E7E9EC"/>
            </a:solidFill>
            <a:prstDash val="solid"/>
          </a:ln>
        </p:spPr>
      </p:sp>
      <p:sp>
        <p:nvSpPr>
          <p:cNvPr id="8" name="Shape 6"/>
          <p:cNvSpPr/>
          <p:nvPr/>
        </p:nvSpPr>
        <p:spPr>
          <a:xfrm>
            <a:off x="812800" y="1822110"/>
            <a:ext cx="5556704" cy="0"/>
          </a:xfrm>
          <a:prstGeom prst="line">
            <a:avLst/>
          </a:prstGeom>
          <a:noFill/>
          <a:ln w="12095">
            <a:solidFill>
              <a:srgbClr val="141413">
                <a:alpha val="22000"/>
              </a:srgbClr>
            </a:solidFill>
            <a:prstDash val="solid"/>
          </a:ln>
        </p:spPr>
      </p:sp>
      <p:sp>
        <p:nvSpPr>
          <p:cNvPr id="9" name="Shape 7"/>
          <p:cNvSpPr/>
          <p:nvPr/>
        </p:nvSpPr>
        <p:spPr>
          <a:xfrm>
            <a:off x="818848" y="1816063"/>
            <a:ext cx="0" cy="1497693"/>
          </a:xfrm>
          <a:prstGeom prst="line">
            <a:avLst/>
          </a:prstGeom>
          <a:noFill/>
          <a:ln w="12095">
            <a:solidFill>
              <a:srgbClr val="141413">
                <a:alpha val="22000"/>
              </a:srgbClr>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13795" y="1904358"/>
          <a:ext cx="5361971" cy="1328360"/>
        </p:xfrm>
        <a:graphic>
          <a:graphicData uri="http://schemas.openxmlformats.org/drawingml/2006/table">
            <a:tbl>
              <a:tblPr/>
              <a:tblGrid>
                <a:gridCol w="1018774"/>
                <a:gridCol w="1126014"/>
                <a:gridCol w="1608591"/>
                <a:gridCol w="857915"/>
                <a:gridCol w="750676"/>
              </a:tblGrid>
              <a:tr h="33209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Firm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Period</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Metric</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A]</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[Q2 2026]</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£100m</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A]</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[Q1 2026]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£[80]m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B]</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[Q2 2026]</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£[__]m</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[9]</a:t>
                      </a:r>
                      <a:endParaRPr lang="en-US" sz="1200" dirty="0">
                        <a:latin typeface="Inter" charset="0"/>
                        <a:ea typeface="Inter" charset="0"/>
                        <a:cs typeface="Inter" charset="0"/>
                      </a:endParaRPr>
                    </a:p>
                  </a:txBody>
                  <a:tcPr marL="53340" marR="53340" marT="53340" marB="5334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bl>
          </a:graphicData>
        </a:graphic>
      </p:graphicFrame>
      <p:sp>
        <p:nvSpPr>
          <p:cNvPr id="11" name="Text 8"/>
          <p:cNvSpPr/>
          <p:nvPr/>
        </p:nvSpPr>
        <p:spPr>
          <a:xfrm>
            <a:off x="6547303" y="1513836"/>
            <a:ext cx="4976853"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NARRATIVE · ONE ROW PER EXPLANATION</a:t>
            </a:r>
            <a:endParaRPr lang="en-US" sz="1200" dirty="0"/>
          </a:p>
        </p:txBody>
      </p:sp>
      <p:sp>
        <p:nvSpPr>
          <p:cNvPr id="12" name="Shape 9"/>
          <p:cNvSpPr/>
          <p:nvPr/>
        </p:nvSpPr>
        <p:spPr>
          <a:xfrm>
            <a:off x="6547303" y="1816063"/>
            <a:ext cx="4831897" cy="1592263"/>
          </a:xfrm>
          <a:prstGeom prst="rect">
            <a:avLst/>
          </a:prstGeom>
          <a:solidFill>
            <a:srgbClr val="FFFFFF"/>
          </a:solidFill>
          <a:ln/>
        </p:spPr>
      </p:sp>
      <p:sp>
        <p:nvSpPr>
          <p:cNvPr id="13" name="Shape 10"/>
          <p:cNvSpPr/>
          <p:nvPr/>
        </p:nvSpPr>
        <p:spPr>
          <a:xfrm>
            <a:off x="11376025" y="1816063"/>
            <a:ext cx="0" cy="1592263"/>
          </a:xfrm>
          <a:prstGeom prst="line">
            <a:avLst/>
          </a:prstGeom>
          <a:noFill/>
          <a:ln w="6350">
            <a:solidFill>
              <a:srgbClr val="E7E9EC"/>
            </a:solidFill>
            <a:prstDash val="solid"/>
          </a:ln>
        </p:spPr>
      </p:sp>
      <p:sp>
        <p:nvSpPr>
          <p:cNvPr id="14" name="Shape 11"/>
          <p:cNvSpPr/>
          <p:nvPr/>
        </p:nvSpPr>
        <p:spPr>
          <a:xfrm>
            <a:off x="6547303" y="3405150"/>
            <a:ext cx="4831897" cy="0"/>
          </a:xfrm>
          <a:prstGeom prst="line">
            <a:avLst/>
          </a:prstGeom>
          <a:noFill/>
          <a:ln w="6350">
            <a:solidFill>
              <a:srgbClr val="E7E9EC"/>
            </a:solidFill>
            <a:prstDash val="solid"/>
          </a:ln>
        </p:spPr>
      </p:sp>
      <p:sp>
        <p:nvSpPr>
          <p:cNvPr id="15" name="Shape 12"/>
          <p:cNvSpPr/>
          <p:nvPr/>
        </p:nvSpPr>
        <p:spPr>
          <a:xfrm>
            <a:off x="6547303" y="1822110"/>
            <a:ext cx="4831897" cy="0"/>
          </a:xfrm>
          <a:prstGeom prst="line">
            <a:avLst/>
          </a:prstGeom>
          <a:noFill/>
          <a:ln w="12095">
            <a:solidFill>
              <a:srgbClr val="141413">
                <a:alpha val="22000"/>
              </a:srgbClr>
            </a:solidFill>
            <a:prstDash val="solid"/>
          </a:ln>
        </p:spPr>
      </p:sp>
      <p:sp>
        <p:nvSpPr>
          <p:cNvPr id="16" name="Shape 13"/>
          <p:cNvSpPr/>
          <p:nvPr/>
        </p:nvSpPr>
        <p:spPr>
          <a:xfrm>
            <a:off x="6553351" y="1816063"/>
            <a:ext cx="0" cy="1592263"/>
          </a:xfrm>
          <a:prstGeom prst="line">
            <a:avLst/>
          </a:prstGeom>
          <a:noFill/>
          <a:ln w="12095">
            <a:solidFill>
              <a:srgbClr val="141413">
                <a:alpha val="22000"/>
              </a:srgbClr>
            </a:solidFill>
            <a:prstDash val="solid"/>
          </a:ln>
        </p:spPr>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648299" y="1904358"/>
          <a:ext cx="4637163" cy="1422929"/>
        </p:xfrm>
        <a:graphic>
          <a:graphicData uri="http://schemas.openxmlformats.org/drawingml/2006/table">
            <a:tbl>
              <a:tblPr/>
              <a:tblGrid>
                <a:gridCol w="927433"/>
                <a:gridCol w="1391149"/>
                <a:gridCol w="1762122"/>
                <a:gridCol w="556460"/>
              </a:tblGrid>
              <a:tr h="54542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Firm</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Explains</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Commentary</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54542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A]</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Stage 3 loans</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Rise driven by [buy-to-let] arrears</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A5C4C3"/>
                      </a:solidFill>
                      <a:prstDash val="solid"/>
                      <a:round/>
                      <a:headEnd type="none" w="med" len="med"/>
                      <a:tailEnd type="none" w="med" len="med"/>
                    </a:lnL>
                    <a:lnR w="12700" cap="flat" cmpd="sng" algn="ctr">
                      <a:solidFill>
                        <a:srgbClr val="A5C4C3"/>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A5C4C3"/>
                      </a:solidFill>
                      <a:prstDash val="solid"/>
                      <a:round/>
                      <a:headEnd type="none" w="med" len="med"/>
                      <a:tailEnd type="none" w="med" len="med"/>
                    </a:lnB>
                    <a:solidFill>
                      <a:srgbClr val="CEF5F5"/>
                    </a:solidFill>
                  </a:tcPr>
                </a:tc>
              </a:tr>
              <a:tr h="332090">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[Firm B]</a:t>
                      </a:r>
                      <a:endParaRPr lang="en-US" sz="1200" dirty="0">
                        <a:latin typeface="Inter" charset="0"/>
                        <a:ea typeface="Inter" charset="0"/>
                        <a:cs typeface="Inte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[Arrears]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[Commentary]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273F"/>
                          </a:solidFill>
                          <a:latin typeface="Inter" pitchFamily="34" charset="0"/>
                          <a:ea typeface="Inter" pitchFamily="34" charset="-122"/>
                          <a:cs typeface="Inter" pitchFamily="34" charset="-120"/>
                        </a:rPr>
                        <a:t>[9]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5C4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8" name="Text 14"/>
          <p:cNvSpPr/>
          <p:nvPr/>
        </p:nvSpPr>
        <p:spPr>
          <a:xfrm>
            <a:off x="6547303" y="3497225"/>
            <a:ext cx="4976853"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Linked to the numbers by firm, period and metric</a:t>
            </a:r>
            <a:endParaRPr lang="en-US" sz="1200" dirty="0"/>
          </a:p>
        </p:txBody>
      </p:sp>
      <p:sp>
        <p:nvSpPr>
          <p:cNvPr id="19" name="Shape 15"/>
          <p:cNvSpPr/>
          <p:nvPr/>
        </p:nvSpPr>
        <p:spPr>
          <a:xfrm>
            <a:off x="815975" y="3967733"/>
            <a:ext cx="3414183" cy="1355876"/>
          </a:xfrm>
          <a:prstGeom prst="roundRect">
            <a:avLst>
              <a:gd name="adj" fmla="val 9132"/>
            </a:avLst>
          </a:prstGeom>
          <a:solidFill>
            <a:srgbClr val="F6F6F6"/>
          </a:solidFill>
          <a:ln w="6350">
            <a:solidFill>
              <a:srgbClr val="E7E9EC"/>
            </a:solidFill>
            <a:prstDash val="solid"/>
          </a:ln>
        </p:spPr>
      </p:sp>
      <p:pic>
        <p:nvPicPr>
          <p:cNvPr id="20" name="Image 0" descr="Book">    </p:cNvPr>
          <p:cNvPicPr>
            <a:picLocks noChangeAspect="1"/>
          </p:cNvPicPr>
          <p:nvPr/>
        </p:nvPicPr>
        <p:blipFill>
          <a:blip r:embed="rId1"/>
          <a:srcRect l="0" r="0" t="0" b="0"/>
          <a:stretch/>
        </p:blipFill>
        <p:spPr>
          <a:xfrm>
            <a:off x="995438" y="4147195"/>
            <a:ext cx="254000" cy="254000"/>
          </a:xfrm>
          <a:prstGeom prst="rect">
            <a:avLst/>
          </a:prstGeom>
        </p:spPr>
      </p:pic>
      <p:sp>
        <p:nvSpPr>
          <p:cNvPr id="21" name="Text 16"/>
          <p:cNvSpPr/>
          <p:nvPr/>
        </p:nvSpPr>
        <p:spPr>
          <a:xfrm>
            <a:off x="1338338" y="4159895"/>
            <a:ext cx="176788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Metric dictionary</a:t>
            </a:r>
            <a:endParaRPr lang="en-US" sz="1500" dirty="0"/>
          </a:p>
        </p:txBody>
      </p:sp>
      <p:sp>
        <p:nvSpPr>
          <p:cNvPr id="22" name="Text 17"/>
          <p:cNvSpPr/>
          <p:nvPr/>
        </p:nvSpPr>
        <p:spPr>
          <a:xfrm>
            <a:off x="995438" y="4477395"/>
            <a:ext cx="3146915"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15265"/>
                </a:solidFill>
                <a:latin typeface="Inter" pitchFamily="34" charset="0"/>
                <a:ea typeface="Inter" pitchFamily="34" charset="-122"/>
                <a:cs typeface="Inter" pitchFamily="34" charset="-120"/>
              </a:rPr>
              <a:t>Maps each firm's wording to one metric: credit-impaired loans become Stage 3 loans.</a:t>
            </a:r>
            <a:endParaRPr lang="en-US" sz="1250" dirty="0"/>
          </a:p>
        </p:txBody>
      </p:sp>
      <p:sp>
        <p:nvSpPr>
          <p:cNvPr id="23" name="Shape 18"/>
          <p:cNvSpPr/>
          <p:nvPr/>
        </p:nvSpPr>
        <p:spPr>
          <a:xfrm>
            <a:off x="4388908" y="3967733"/>
            <a:ext cx="3414183" cy="1355876"/>
          </a:xfrm>
          <a:prstGeom prst="roundRect">
            <a:avLst>
              <a:gd name="adj" fmla="val 9132"/>
            </a:avLst>
          </a:prstGeom>
          <a:solidFill>
            <a:srgbClr val="F6F6F6"/>
          </a:solidFill>
          <a:ln w="6350">
            <a:solidFill>
              <a:srgbClr val="E7E9EC"/>
            </a:solidFill>
            <a:prstDash val="solid"/>
          </a:ln>
        </p:spPr>
      </p:sp>
      <p:pic>
        <p:nvPicPr>
          <p:cNvPr id="24" name="Image 1" descr="Users">    </p:cNvPr>
          <p:cNvPicPr>
            <a:picLocks noChangeAspect="1"/>
          </p:cNvPicPr>
          <p:nvPr/>
        </p:nvPicPr>
        <p:blipFill>
          <a:blip r:embed="rId2"/>
          <a:srcRect l="0" r="0" t="0" b="0"/>
          <a:stretch/>
        </p:blipFill>
        <p:spPr>
          <a:xfrm>
            <a:off x="4568372" y="4147195"/>
            <a:ext cx="254000" cy="254000"/>
          </a:xfrm>
          <a:prstGeom prst="rect">
            <a:avLst/>
          </a:prstGeom>
        </p:spPr>
      </p:pic>
      <p:sp>
        <p:nvSpPr>
          <p:cNvPr id="25" name="Text 19"/>
          <p:cNvSpPr/>
          <p:nvPr/>
        </p:nvSpPr>
        <p:spPr>
          <a:xfrm>
            <a:off x="4911272" y="4159895"/>
            <a:ext cx="15316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Firm reference</a:t>
            </a:r>
            <a:endParaRPr lang="en-US" sz="1500" dirty="0"/>
          </a:p>
        </p:txBody>
      </p:sp>
      <p:sp>
        <p:nvSpPr>
          <p:cNvPr id="26" name="Text 20"/>
          <p:cNvSpPr/>
          <p:nvPr/>
        </p:nvSpPr>
        <p:spPr>
          <a:xfrm>
            <a:off x="4568372" y="4477395"/>
            <a:ext cx="314691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15265"/>
                </a:solidFill>
                <a:latin typeface="Inter" pitchFamily="34" charset="0"/>
                <a:ea typeface="Inter" pitchFamily="34" charset="-122"/>
                <a:cs typeface="Inter" pitchFamily="34" charset="-120"/>
              </a:rPr>
              <a:t>Names, peer groups and sectors, so comparisons are like for like.</a:t>
            </a:r>
            <a:endParaRPr lang="en-US" sz="1250" dirty="0"/>
          </a:p>
        </p:txBody>
      </p:sp>
      <p:sp>
        <p:nvSpPr>
          <p:cNvPr id="27" name="Shape 21"/>
          <p:cNvSpPr/>
          <p:nvPr/>
        </p:nvSpPr>
        <p:spPr>
          <a:xfrm>
            <a:off x="7961842" y="3967733"/>
            <a:ext cx="3414183" cy="1355876"/>
          </a:xfrm>
          <a:prstGeom prst="roundRect">
            <a:avLst>
              <a:gd name="adj" fmla="val 9132"/>
            </a:avLst>
          </a:prstGeom>
          <a:solidFill>
            <a:srgbClr val="F6F6F6"/>
          </a:solidFill>
          <a:ln w="6350">
            <a:solidFill>
              <a:srgbClr val="E7E9EC"/>
            </a:solidFill>
            <a:prstDash val="solid"/>
          </a:ln>
        </p:spPr>
      </p:sp>
      <p:pic>
        <p:nvPicPr>
          <p:cNvPr id="28" name="Image 2" descr="Verified">    </p:cNvPr>
          <p:cNvPicPr>
            <a:picLocks noChangeAspect="1"/>
          </p:cNvPicPr>
          <p:nvPr/>
        </p:nvPicPr>
        <p:blipFill>
          <a:blip r:embed="rId3"/>
          <a:srcRect l="0" r="0" t="0" b="0"/>
          <a:stretch/>
        </p:blipFill>
        <p:spPr>
          <a:xfrm>
            <a:off x="8141305" y="4147195"/>
            <a:ext cx="254000" cy="254000"/>
          </a:xfrm>
          <a:prstGeom prst="rect">
            <a:avLst/>
          </a:prstGeom>
        </p:spPr>
      </p:pic>
      <p:sp>
        <p:nvSpPr>
          <p:cNvPr id="29" name="Text 22"/>
          <p:cNvSpPr/>
          <p:nvPr/>
        </p:nvSpPr>
        <p:spPr>
          <a:xfrm>
            <a:off x="8484205" y="4159895"/>
            <a:ext cx="14258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Unity Catalog</a:t>
            </a:r>
            <a:endParaRPr lang="en-US" sz="1500" dirty="0"/>
          </a:p>
        </p:txBody>
      </p:sp>
      <p:sp>
        <p:nvSpPr>
          <p:cNvPr id="30" name="Text 23"/>
          <p:cNvSpPr/>
          <p:nvPr/>
        </p:nvSpPr>
        <p:spPr>
          <a:xfrm>
            <a:off x="8141305" y="4477395"/>
            <a:ext cx="314691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15265"/>
                </a:solidFill>
                <a:latin typeface="Inter" pitchFamily="34" charset="0"/>
                <a:ea typeface="Inter" pitchFamily="34" charset="-122"/>
                <a:cs typeface="Inter" pitchFamily="34" charset="-120"/>
              </a:rPr>
              <a:t>Governs these tables, their descriptions and who can query them.</a:t>
            </a:r>
            <a:endParaRPr lang="en-US" sz="1250" dirty="0"/>
          </a:p>
        </p:txBody>
      </p:sp>
      <p:sp>
        <p:nvSpPr>
          <p:cNvPr id="31" name="Text 24"/>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What we configure in a Genie agent</a:t>
            </a:r>
            <a:endParaRPr lang="en-US" sz="3200" dirty="0"/>
          </a:p>
        </p:txBody>
      </p:sp>
      <p:sp>
        <p:nvSpPr>
          <p:cNvPr id="4" name="Text 2"/>
          <p:cNvSpPr/>
          <p:nvPr/>
        </p:nvSpPr>
        <p:spPr>
          <a:xfrm>
            <a:off x="812800" y="1615436"/>
            <a:ext cx="3924300" cy="69593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73F"/>
                </a:solidFill>
                <a:latin typeface="Outfit" pitchFamily="34" charset="0"/>
                <a:ea typeface="Outfit" pitchFamily="34" charset="-122"/>
                <a:cs typeface="Outfit" pitchFamily="34" charset="-120"/>
              </a:rPr>
              <a:t>Most of the effort is curating context, not prompting.</a:t>
            </a:r>
            <a:endParaRPr lang="en-US" sz="2200" dirty="0"/>
          </a:p>
        </p:txBody>
      </p:sp>
      <p:sp>
        <p:nvSpPr>
          <p:cNvPr id="5" name="Text 3"/>
          <p:cNvSpPr/>
          <p:nvPr/>
        </p:nvSpPr>
        <p:spPr>
          <a:xfrm>
            <a:off x="812800" y="2463763"/>
            <a:ext cx="3924300" cy="798739"/>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15265"/>
                </a:solidFill>
                <a:latin typeface="Inter" pitchFamily="34" charset="0"/>
                <a:ea typeface="Inter" pitchFamily="34" charset="-122"/>
                <a:cs typeface="Inter" pitchFamily="34" charset="-120"/>
              </a:rPr>
              <a:t>Agent mode relies heavily on the context in the Genie agent to reason about the data, so this is where answer quality is won or lost.</a:t>
            </a:r>
            <a:endParaRPr lang="en-US" sz="1400" dirty="0"/>
          </a:p>
        </p:txBody>
      </p:sp>
      <p:sp>
        <p:nvSpPr>
          <p:cNvPr id="6" name="Text 4"/>
          <p:cNvSpPr/>
          <p:nvPr/>
        </p:nvSpPr>
        <p:spPr>
          <a:xfrm>
            <a:off x="812800" y="3414905"/>
            <a:ext cx="3924300" cy="23873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15265"/>
                </a:solidFill>
                <a:latin typeface="Inter" pitchFamily="34" charset="0"/>
                <a:ea typeface="Inter" pitchFamily="34" charset="-122"/>
                <a:cs typeface="Inter" pitchFamily="34" charset="-120"/>
              </a:rPr>
              <a:t>Genie agents were formerly called Genie spaces.</a:t>
            </a:r>
            <a:endParaRPr lang="en-US" sz="1200" dirty="0"/>
          </a:p>
        </p:txBody>
      </p:sp>
      <p:sp>
        <p:nvSpPr>
          <p:cNvPr id="7" name="Shape 5"/>
          <p:cNvSpPr/>
          <p:nvPr/>
        </p:nvSpPr>
        <p:spPr>
          <a:xfrm>
            <a:off x="5032375" y="1618611"/>
            <a:ext cx="6343650" cy="821191"/>
          </a:xfrm>
          <a:prstGeom prst="rect">
            <a:avLst/>
          </a:prstGeom>
          <a:solidFill>
            <a:srgbClr val="F6F6F6"/>
          </a:solidFill>
          <a:ln w="6350">
            <a:solidFill>
              <a:srgbClr val="E7E9EC"/>
            </a:solidFill>
            <a:prstDash val="solid"/>
          </a:ln>
        </p:spPr>
      </p:sp>
      <p:sp>
        <p:nvSpPr>
          <p:cNvPr id="8" name="Text 6"/>
          <p:cNvSpPr/>
          <p:nvPr/>
        </p:nvSpPr>
        <p:spPr>
          <a:xfrm>
            <a:off x="5211838" y="1895853"/>
            <a:ext cx="151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Data</a:t>
            </a:r>
            <a:endParaRPr lang="en-US" sz="1500" dirty="0"/>
          </a:p>
        </p:txBody>
      </p:sp>
      <p:sp>
        <p:nvSpPr>
          <p:cNvPr id="9" name="Text 7"/>
          <p:cNvSpPr/>
          <p:nvPr/>
        </p:nvSpPr>
        <p:spPr>
          <a:xfrm>
            <a:off x="6824738" y="1798073"/>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Curated tables for one risk stripe, such as credit risk, plus firm reference data</a:t>
            </a:r>
            <a:endParaRPr lang="en-US" sz="1300" dirty="0"/>
          </a:p>
        </p:txBody>
      </p:sp>
      <p:sp>
        <p:nvSpPr>
          <p:cNvPr id="10" name="Shape 8"/>
          <p:cNvSpPr/>
          <p:nvPr/>
        </p:nvSpPr>
        <p:spPr>
          <a:xfrm>
            <a:off x="5029200" y="2442976"/>
            <a:ext cx="6350000" cy="822703"/>
          </a:xfrm>
          <a:prstGeom prst="rect">
            <a:avLst/>
          </a:prstGeom>
          <a:solidFill>
            <a:srgbClr val="F6F6F6"/>
          </a:solidFill>
          <a:ln/>
        </p:spPr>
      </p:sp>
      <p:sp>
        <p:nvSpPr>
          <p:cNvPr id="11" name="Shape 9"/>
          <p:cNvSpPr/>
          <p:nvPr/>
        </p:nvSpPr>
        <p:spPr>
          <a:xfrm>
            <a:off x="11376025" y="2442976"/>
            <a:ext cx="0" cy="822703"/>
          </a:xfrm>
          <a:prstGeom prst="line">
            <a:avLst/>
          </a:prstGeom>
          <a:noFill/>
          <a:ln w="6350">
            <a:solidFill>
              <a:srgbClr val="E7E9EC"/>
            </a:solidFill>
            <a:prstDash val="solid"/>
          </a:ln>
        </p:spPr>
      </p:sp>
      <p:sp>
        <p:nvSpPr>
          <p:cNvPr id="12" name="Shape 10"/>
          <p:cNvSpPr/>
          <p:nvPr/>
        </p:nvSpPr>
        <p:spPr>
          <a:xfrm>
            <a:off x="5029200" y="3262504"/>
            <a:ext cx="6350000" cy="0"/>
          </a:xfrm>
          <a:prstGeom prst="line">
            <a:avLst/>
          </a:prstGeom>
          <a:noFill/>
          <a:ln w="6350">
            <a:solidFill>
              <a:srgbClr val="E7E9EC"/>
            </a:solidFill>
            <a:prstDash val="solid"/>
          </a:ln>
        </p:spPr>
      </p:sp>
      <p:sp>
        <p:nvSpPr>
          <p:cNvPr id="13" name="Shape 11"/>
          <p:cNvSpPr/>
          <p:nvPr/>
        </p:nvSpPr>
        <p:spPr>
          <a:xfrm>
            <a:off x="5032375" y="2442976"/>
            <a:ext cx="0" cy="822703"/>
          </a:xfrm>
          <a:prstGeom prst="line">
            <a:avLst/>
          </a:prstGeom>
          <a:noFill/>
          <a:ln w="6350">
            <a:solidFill>
              <a:srgbClr val="E7E9EC"/>
            </a:solidFill>
            <a:prstDash val="solid"/>
          </a:ln>
        </p:spPr>
      </p:sp>
      <p:sp>
        <p:nvSpPr>
          <p:cNvPr id="14" name="Text 12"/>
          <p:cNvSpPr/>
          <p:nvPr/>
        </p:nvSpPr>
        <p:spPr>
          <a:xfrm>
            <a:off x="5211838" y="2718557"/>
            <a:ext cx="151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Knowledge</a:t>
            </a:r>
            <a:endParaRPr lang="en-US" sz="1500" dirty="0"/>
          </a:p>
        </p:txBody>
      </p:sp>
      <p:sp>
        <p:nvSpPr>
          <p:cNvPr id="15" name="Text 13"/>
          <p:cNvSpPr/>
          <p:nvPr/>
        </p:nvSpPr>
        <p:spPr>
          <a:xfrm>
            <a:off x="6824738" y="2620776"/>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Table and column descriptions, synonyms and join relationships</a:t>
            </a:r>
            <a:endParaRPr lang="en-US" sz="1300" dirty="0"/>
          </a:p>
        </p:txBody>
      </p:sp>
      <p:sp>
        <p:nvSpPr>
          <p:cNvPr id="16" name="Shape 14"/>
          <p:cNvSpPr/>
          <p:nvPr/>
        </p:nvSpPr>
        <p:spPr>
          <a:xfrm>
            <a:off x="5029200" y="3265680"/>
            <a:ext cx="6350000" cy="822703"/>
          </a:xfrm>
          <a:prstGeom prst="rect">
            <a:avLst/>
          </a:prstGeom>
          <a:solidFill>
            <a:srgbClr val="F6F6F6"/>
          </a:solidFill>
          <a:ln/>
        </p:spPr>
      </p:sp>
      <p:sp>
        <p:nvSpPr>
          <p:cNvPr id="17" name="Shape 15"/>
          <p:cNvSpPr/>
          <p:nvPr/>
        </p:nvSpPr>
        <p:spPr>
          <a:xfrm>
            <a:off x="11376025" y="3265680"/>
            <a:ext cx="0" cy="822703"/>
          </a:xfrm>
          <a:prstGeom prst="line">
            <a:avLst/>
          </a:prstGeom>
          <a:noFill/>
          <a:ln w="6350">
            <a:solidFill>
              <a:srgbClr val="E7E9EC"/>
            </a:solidFill>
            <a:prstDash val="solid"/>
          </a:ln>
        </p:spPr>
      </p:sp>
      <p:sp>
        <p:nvSpPr>
          <p:cNvPr id="18" name="Shape 16"/>
          <p:cNvSpPr/>
          <p:nvPr/>
        </p:nvSpPr>
        <p:spPr>
          <a:xfrm>
            <a:off x="5029200" y="4085208"/>
            <a:ext cx="6350000" cy="0"/>
          </a:xfrm>
          <a:prstGeom prst="line">
            <a:avLst/>
          </a:prstGeom>
          <a:noFill/>
          <a:ln w="6350">
            <a:solidFill>
              <a:srgbClr val="E7E9EC"/>
            </a:solidFill>
            <a:prstDash val="solid"/>
          </a:ln>
        </p:spPr>
      </p:sp>
      <p:sp>
        <p:nvSpPr>
          <p:cNvPr id="19" name="Shape 17"/>
          <p:cNvSpPr/>
          <p:nvPr/>
        </p:nvSpPr>
        <p:spPr>
          <a:xfrm>
            <a:off x="5032375" y="3265680"/>
            <a:ext cx="0" cy="822703"/>
          </a:xfrm>
          <a:prstGeom prst="line">
            <a:avLst/>
          </a:prstGeom>
          <a:noFill/>
          <a:ln w="6350">
            <a:solidFill>
              <a:srgbClr val="E7E9EC"/>
            </a:solidFill>
            <a:prstDash val="solid"/>
          </a:ln>
        </p:spPr>
      </p:sp>
      <p:sp>
        <p:nvSpPr>
          <p:cNvPr id="20" name="Text 18"/>
          <p:cNvSpPr/>
          <p:nvPr/>
        </p:nvSpPr>
        <p:spPr>
          <a:xfrm>
            <a:off x="5211838" y="3541260"/>
            <a:ext cx="151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Instructions</a:t>
            </a:r>
            <a:endParaRPr lang="en-US" sz="1500" dirty="0"/>
          </a:p>
        </p:txBody>
      </p:sp>
      <p:sp>
        <p:nvSpPr>
          <p:cNvPr id="21" name="Text 19"/>
          <p:cNvSpPr/>
          <p:nvPr/>
        </p:nvSpPr>
        <p:spPr>
          <a:xfrm>
            <a:off x="6824738" y="3443480"/>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Supervisory definitions and conventions, such as which reporting date to use</a:t>
            </a:r>
            <a:endParaRPr lang="en-US" sz="1300" dirty="0"/>
          </a:p>
        </p:txBody>
      </p:sp>
      <p:sp>
        <p:nvSpPr>
          <p:cNvPr id="22" name="Shape 20"/>
          <p:cNvSpPr/>
          <p:nvPr/>
        </p:nvSpPr>
        <p:spPr>
          <a:xfrm>
            <a:off x="5029200" y="4088383"/>
            <a:ext cx="6350000" cy="893838"/>
          </a:xfrm>
          <a:prstGeom prst="rect">
            <a:avLst/>
          </a:prstGeom>
          <a:solidFill>
            <a:srgbClr val="F6F6F6"/>
          </a:solidFill>
          <a:ln/>
        </p:spPr>
      </p:sp>
      <p:sp>
        <p:nvSpPr>
          <p:cNvPr id="23" name="Shape 21"/>
          <p:cNvSpPr/>
          <p:nvPr/>
        </p:nvSpPr>
        <p:spPr>
          <a:xfrm>
            <a:off x="11376025" y="4088383"/>
            <a:ext cx="0" cy="893838"/>
          </a:xfrm>
          <a:prstGeom prst="line">
            <a:avLst/>
          </a:prstGeom>
          <a:noFill/>
          <a:ln w="6350">
            <a:solidFill>
              <a:srgbClr val="E7E9EC"/>
            </a:solidFill>
            <a:prstDash val="solid"/>
          </a:ln>
        </p:spPr>
      </p:sp>
      <p:sp>
        <p:nvSpPr>
          <p:cNvPr id="24" name="Shape 22"/>
          <p:cNvSpPr/>
          <p:nvPr/>
        </p:nvSpPr>
        <p:spPr>
          <a:xfrm>
            <a:off x="5029200" y="4979046"/>
            <a:ext cx="6350000" cy="0"/>
          </a:xfrm>
          <a:prstGeom prst="line">
            <a:avLst/>
          </a:prstGeom>
          <a:noFill/>
          <a:ln w="6350">
            <a:solidFill>
              <a:srgbClr val="E7E9EC"/>
            </a:solidFill>
            <a:prstDash val="solid"/>
          </a:ln>
        </p:spPr>
      </p:sp>
      <p:sp>
        <p:nvSpPr>
          <p:cNvPr id="25" name="Shape 23"/>
          <p:cNvSpPr/>
          <p:nvPr/>
        </p:nvSpPr>
        <p:spPr>
          <a:xfrm>
            <a:off x="5032375" y="4088383"/>
            <a:ext cx="0" cy="893838"/>
          </a:xfrm>
          <a:prstGeom prst="line">
            <a:avLst/>
          </a:prstGeom>
          <a:noFill/>
          <a:ln w="6350">
            <a:solidFill>
              <a:srgbClr val="E7E9EC"/>
            </a:solidFill>
            <a:prstDash val="solid"/>
          </a:ln>
        </p:spPr>
      </p:sp>
      <p:sp>
        <p:nvSpPr>
          <p:cNvPr id="26" name="Text 24"/>
          <p:cNvSpPr/>
          <p:nvPr/>
        </p:nvSpPr>
        <p:spPr>
          <a:xfrm>
            <a:off x="5211838" y="4266183"/>
            <a:ext cx="15113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2273F"/>
                </a:solidFill>
                <a:latin typeface="Outfit" pitchFamily="34" charset="0"/>
                <a:ea typeface="Outfit" pitchFamily="34" charset="-122"/>
                <a:cs typeface="Outfit" pitchFamily="34" charset="-120"/>
              </a:rPr>
              <a:t>Examples and benchmarks</a:t>
            </a:r>
            <a:endParaRPr lang="en-US" sz="1500" dirty="0"/>
          </a:p>
        </p:txBody>
      </p:sp>
      <p:sp>
        <p:nvSpPr>
          <p:cNvPr id="27" name="Text 25"/>
          <p:cNvSpPr/>
          <p:nvPr/>
        </p:nvSpPr>
        <p:spPr>
          <a:xfrm>
            <a:off x="6824738" y="4301747"/>
            <a:ext cx="4502979"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273F"/>
                </a:solidFill>
                <a:latin typeface="Inter" pitchFamily="34" charset="0"/>
                <a:ea typeface="Inter" pitchFamily="34" charset="-122"/>
                <a:cs typeface="Inter" pitchFamily="34" charset="-120"/>
              </a:rPr>
              <a:t>Trusted SQL for common questions, and benchmark questions to test accuracy</a:t>
            </a:r>
            <a:endParaRPr lang="en-US" sz="1300" dirty="0"/>
          </a:p>
        </p:txBody>
      </p:sp>
      <p:sp>
        <p:nvSpPr>
          <p:cNvPr id="28" name="Text 26"/>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Agent mode moves from "what" to "why"</a:t>
            </a:r>
            <a:endParaRPr lang="en-US" sz="3200" dirty="0"/>
          </a:p>
        </p:txBody>
      </p:sp>
      <p:sp>
        <p:nvSpPr>
          <p:cNvPr id="4" name="Shape 2"/>
          <p:cNvSpPr/>
          <p:nvPr/>
        </p:nvSpPr>
        <p:spPr>
          <a:xfrm>
            <a:off x="812800" y="1564636"/>
            <a:ext cx="10566400" cy="2397957"/>
          </a:xfrm>
          <a:prstGeom prst="rect">
            <a:avLst/>
          </a:prstGeom>
          <a:solidFill>
            <a:srgbClr val="FFFFFF"/>
          </a:solidFill>
          <a:ln/>
        </p:spPr>
      </p:sp>
      <p:sp>
        <p:nvSpPr>
          <p:cNvPr id="5" name="Shape 3"/>
          <p:cNvSpPr/>
          <p:nvPr/>
        </p:nvSpPr>
        <p:spPr>
          <a:xfrm>
            <a:off x="11376025" y="1564636"/>
            <a:ext cx="0" cy="2397957"/>
          </a:xfrm>
          <a:prstGeom prst="line">
            <a:avLst/>
          </a:prstGeom>
          <a:noFill/>
          <a:ln w="6350">
            <a:solidFill>
              <a:srgbClr val="E7E9EC"/>
            </a:solidFill>
            <a:prstDash val="solid"/>
          </a:ln>
        </p:spPr>
      </p:sp>
      <p:sp>
        <p:nvSpPr>
          <p:cNvPr id="6" name="Shape 4"/>
          <p:cNvSpPr/>
          <p:nvPr/>
        </p:nvSpPr>
        <p:spPr>
          <a:xfrm>
            <a:off x="812800" y="3959418"/>
            <a:ext cx="10566400" cy="0"/>
          </a:xfrm>
          <a:prstGeom prst="line">
            <a:avLst/>
          </a:prstGeom>
          <a:noFill/>
          <a:ln w="6350">
            <a:solidFill>
              <a:srgbClr val="E7E9EC"/>
            </a:solidFill>
            <a:prstDash val="solid"/>
          </a:ln>
        </p:spPr>
      </p:sp>
      <p:sp>
        <p:nvSpPr>
          <p:cNvPr id="7" name="Shape 5"/>
          <p:cNvSpPr/>
          <p:nvPr/>
        </p:nvSpPr>
        <p:spPr>
          <a:xfrm>
            <a:off x="812800" y="1570684"/>
            <a:ext cx="10566400" cy="0"/>
          </a:xfrm>
          <a:prstGeom prst="line">
            <a:avLst/>
          </a:prstGeom>
          <a:noFill/>
          <a:ln w="12095">
            <a:solidFill>
              <a:srgbClr val="141413">
                <a:alpha val="22000"/>
              </a:srgbClr>
            </a:solidFill>
            <a:prstDash val="solid"/>
          </a:ln>
        </p:spPr>
      </p:sp>
      <p:sp>
        <p:nvSpPr>
          <p:cNvPr id="8" name="Shape 6"/>
          <p:cNvSpPr/>
          <p:nvPr/>
        </p:nvSpPr>
        <p:spPr>
          <a:xfrm>
            <a:off x="818848" y="1564636"/>
            <a:ext cx="0" cy="2397957"/>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77295" y="1691032"/>
          <a:ext cx="10244667" cy="2152423"/>
        </p:xfrm>
        <a:graphic>
          <a:graphicData uri="http://schemas.openxmlformats.org/drawingml/2006/table">
            <a:tbl>
              <a:tblPr/>
              <a:tblGrid>
                <a:gridCol w="2253827"/>
                <a:gridCol w="3995420"/>
                <a:gridCol w="3995420"/>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 </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Standard Genie</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Agent mode</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Best for</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"What" questions: lookups, filters, trends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"Why" questions: investigations and drivers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How it works</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One question, one SQL query</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Plans, tests hypotheses, runs several queries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Output</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Written answer, table or chart, with the SQL</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Report with a visible reasoning trace, exportable</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Speed</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Fast</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Slower, because it does more work</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Data</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Structured tables in the agent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Same context and data; structured only</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812800" y="4267392"/>
            <a:ext cx="10883392"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15265"/>
                </a:solidFill>
                <a:latin typeface="Inter" pitchFamily="34" charset="0"/>
                <a:ea typeface="Inter" pitchFamily="34" charset="-122"/>
                <a:cs typeface="Inter" pitchFamily="34" charset="-120"/>
              </a:rPr>
              <a:t>Agent mode is a preview feature: check availability and API support in your workspace.</a:t>
            </a:r>
            <a:endParaRPr lang="en-US" sz="1300" dirty="0"/>
          </a:p>
        </p:txBody>
      </p:sp>
      <p:sp>
        <p:nvSpPr>
          <p:cNvPr id="11" name="Text 8"/>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7"/>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3 OF 4</a:t>
            </a:r>
            <a:endParaRPr lang="en-US" sz="1300" dirty="0"/>
          </a:p>
        </p:txBody>
      </p:sp>
      <p:sp>
        <p:nvSpPr>
          <p:cNvPr id="5" name="Text 3"/>
          <p:cNvSpPr/>
          <p:nvPr>
            <p:ph type="title"/>
          </p:nvPr>
        </p:nvSpPr>
        <p:spPr>
          <a:xfrm>
            <a:off x="812800" y="4968273"/>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Demo and scaling out</a:t>
            </a:r>
            <a:endParaRPr lang="en-US" sz="4800" dirty="0"/>
          </a:p>
        </p:txBody>
      </p:sp>
      <p:sp>
        <p:nvSpPr>
          <p:cNvPr id="6" name="Text 4"/>
          <p:cNvSpPr/>
          <p:nvPr/>
        </p:nvSpPr>
        <p:spPr>
          <a:xfrm>
            <a:off x="812800" y="5760740"/>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One Genie agent live, then many agents behind one interface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73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FFF"/>
                </a:solidFill>
                <a:latin typeface="Outfit" pitchFamily="34" charset="0"/>
                <a:ea typeface="Outfit" pitchFamily="34" charset="-122"/>
                <a:cs typeface="Outfit" pitchFamily="34" charset="-120"/>
              </a:rPr>
              <a:t>Live demo: one credit risk Genie agent, three questions</a:t>
            </a:r>
            <a:endParaRPr lang="en-US" sz="3200" dirty="0"/>
          </a:p>
        </p:txBody>
      </p:sp>
      <p:sp>
        <p:nvSpPr>
          <p:cNvPr id="3" name="Shape 1"/>
          <p:cNvSpPr/>
          <p:nvPr/>
        </p:nvSpPr>
        <p:spPr>
          <a:xfrm>
            <a:off x="812800" y="1615436"/>
            <a:ext cx="3378578" cy="2571712"/>
          </a:xfrm>
          <a:prstGeom prst="roundRect">
            <a:avLst>
              <a:gd name="adj" fmla="val 4938"/>
            </a:avLst>
          </a:prstGeom>
          <a:solidFill>
            <a:srgbClr val="415265"/>
          </a:solidFill>
          <a:ln/>
        </p:spPr>
      </p:sp>
      <p:sp>
        <p:nvSpPr>
          <p:cNvPr id="4" name="Text 2"/>
          <p:cNvSpPr/>
          <p:nvPr/>
        </p:nvSpPr>
        <p:spPr>
          <a:xfrm>
            <a:off x="1066800" y="1869436"/>
            <a:ext cx="1549362" cy="314930"/>
          </a:xfrm>
          <a:prstGeom prst="roundRect">
            <a:avLst>
              <a:gd name="adj" fmla="val 50000"/>
            </a:avLst>
          </a:pr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Standard · lookup</a:t>
            </a:r>
            <a:endParaRPr lang="en-US" sz="1200" dirty="0"/>
          </a:p>
        </p:txBody>
      </p:sp>
      <p:sp>
        <p:nvSpPr>
          <p:cNvPr id="5" name="Text 3"/>
          <p:cNvSpPr/>
          <p:nvPr/>
        </p:nvSpPr>
        <p:spPr>
          <a:xfrm>
            <a:off x="1066800" y="2311363"/>
            <a:ext cx="2956695" cy="54353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Outfit" pitchFamily="34" charset="0"/>
                <a:ea typeface="Outfit" pitchFamily="34" charset="-122"/>
                <a:cs typeface="Outfit" pitchFamily="34" charset="-120"/>
              </a:rPr>
              <a:t>What were [Firm A]'s Stage 3 loans at [Q2 2026]?</a:t>
            </a:r>
            <a:endParaRPr lang="en-US" sz="1700" dirty="0"/>
          </a:p>
        </p:txBody>
      </p:sp>
      <p:sp>
        <p:nvSpPr>
          <p:cNvPr id="6" name="Text 4"/>
          <p:cNvSpPr/>
          <p:nvPr/>
        </p:nvSpPr>
        <p:spPr>
          <a:xfrm>
            <a:off x="1066800" y="2956496"/>
            <a:ext cx="2956695"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Shows: SQL generation, governed definitions, a single answer.</a:t>
            </a:r>
            <a:endParaRPr lang="en-US" sz="1300" dirty="0"/>
          </a:p>
        </p:txBody>
      </p:sp>
      <p:sp>
        <p:nvSpPr>
          <p:cNvPr id="7" name="Shape 5"/>
          <p:cNvSpPr/>
          <p:nvPr/>
        </p:nvSpPr>
        <p:spPr>
          <a:xfrm>
            <a:off x="4394578" y="1615436"/>
            <a:ext cx="3378616" cy="2571712"/>
          </a:xfrm>
          <a:prstGeom prst="roundRect">
            <a:avLst>
              <a:gd name="adj" fmla="val 4938"/>
            </a:avLst>
          </a:prstGeom>
          <a:solidFill>
            <a:srgbClr val="415265"/>
          </a:solidFill>
          <a:ln/>
        </p:spPr>
      </p:sp>
      <p:sp>
        <p:nvSpPr>
          <p:cNvPr id="8" name="Text 6"/>
          <p:cNvSpPr/>
          <p:nvPr/>
        </p:nvSpPr>
        <p:spPr>
          <a:xfrm>
            <a:off x="4648578" y="1869436"/>
            <a:ext cx="1922689" cy="314930"/>
          </a:xfrm>
          <a:prstGeom prst="roundRect">
            <a:avLst>
              <a:gd name="adj" fmla="val 50000"/>
            </a:avLst>
          </a:prstGeom>
          <a:solidFill>
            <a:srgbClr val="3CD7D9"/>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Standard · comparison</a:t>
            </a:r>
            <a:endParaRPr lang="en-US" sz="1200" dirty="0"/>
          </a:p>
        </p:txBody>
      </p:sp>
      <p:sp>
        <p:nvSpPr>
          <p:cNvPr id="9" name="Text 7"/>
          <p:cNvSpPr/>
          <p:nvPr/>
        </p:nvSpPr>
        <p:spPr>
          <a:xfrm>
            <a:off x="4648578" y="2311363"/>
            <a:ext cx="2956734" cy="802595"/>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Outfit" pitchFamily="34" charset="0"/>
                <a:ea typeface="Outfit" pitchFamily="34" charset="-122"/>
                <a:cs typeface="Outfit" pitchFamily="34" charset="-120"/>
              </a:rPr>
              <a:t>How has Stage 3 coverage moved across [peer group] over [four] quarters?</a:t>
            </a:r>
            <a:endParaRPr lang="en-US" sz="1700" dirty="0"/>
          </a:p>
        </p:txBody>
      </p:sp>
      <p:sp>
        <p:nvSpPr>
          <p:cNvPr id="10" name="Text 8"/>
          <p:cNvSpPr/>
          <p:nvPr/>
        </p:nvSpPr>
        <p:spPr>
          <a:xfrm>
            <a:off x="4648578" y="3215556"/>
            <a:ext cx="2956734" cy="48766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Shows: joins, a time series and an automatic chart.</a:t>
            </a:r>
            <a:endParaRPr lang="en-US" sz="1300" dirty="0"/>
          </a:p>
        </p:txBody>
      </p:sp>
      <p:sp>
        <p:nvSpPr>
          <p:cNvPr id="11" name="Shape 9"/>
          <p:cNvSpPr/>
          <p:nvPr/>
        </p:nvSpPr>
        <p:spPr>
          <a:xfrm>
            <a:off x="7982744" y="1621786"/>
            <a:ext cx="3390106" cy="2559012"/>
          </a:xfrm>
          <a:prstGeom prst="roundRect">
            <a:avLst>
              <a:gd name="adj" fmla="val 4715"/>
            </a:avLst>
          </a:prstGeom>
          <a:solidFill>
            <a:srgbClr val="415265"/>
          </a:solidFill>
          <a:ln w="12700">
            <a:solidFill>
              <a:srgbClr val="FF7300"/>
            </a:solidFill>
            <a:prstDash val="solid"/>
          </a:ln>
        </p:spPr>
      </p:sp>
      <p:sp>
        <p:nvSpPr>
          <p:cNvPr id="12" name="Text 10"/>
          <p:cNvSpPr/>
          <p:nvPr/>
        </p:nvSpPr>
        <p:spPr>
          <a:xfrm>
            <a:off x="8242489" y="1881529"/>
            <a:ext cx="2221404" cy="314930"/>
          </a:xfrm>
          <a:prstGeom prst="roundRect">
            <a:avLst>
              <a:gd name="adj" fmla="val 50000"/>
            </a:avLst>
          </a:prstGeom>
          <a:solidFill>
            <a:srgbClr val="FF7300"/>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Agent mode · investigation</a:t>
            </a:r>
            <a:endParaRPr lang="en-US" sz="1200" dirty="0"/>
          </a:p>
        </p:txBody>
      </p:sp>
      <p:sp>
        <p:nvSpPr>
          <p:cNvPr id="13" name="Text 11"/>
          <p:cNvSpPr/>
          <p:nvPr/>
        </p:nvSpPr>
        <p:spPr>
          <a:xfrm>
            <a:off x="8242489" y="2323461"/>
            <a:ext cx="2956734" cy="802595"/>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FFFF"/>
                </a:solidFill>
                <a:latin typeface="Outfit" pitchFamily="34" charset="0"/>
                <a:ea typeface="Outfit" pitchFamily="34" charset="-122"/>
                <a:cs typeface="Outfit" pitchFamily="34" charset="-120"/>
              </a:rPr>
              <a:t>Why has [Firm B]'s impairment charge risen, and what is driving it?</a:t>
            </a:r>
            <a:endParaRPr lang="en-US" sz="1700" dirty="0"/>
          </a:p>
        </p:txBody>
      </p:sp>
      <p:sp>
        <p:nvSpPr>
          <p:cNvPr id="14" name="Text 12"/>
          <p:cNvSpPr/>
          <p:nvPr/>
        </p:nvSpPr>
        <p:spPr>
          <a:xfrm>
            <a:off x="8242489" y="3227654"/>
            <a:ext cx="2956734" cy="7187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Shows: a plan, multiple queries, hypotheses tested and a written report.</a:t>
            </a:r>
            <a:endParaRPr lang="en-US" sz="1300" dirty="0"/>
          </a:p>
        </p:txBody>
      </p:sp>
      <p:sp>
        <p:nvSpPr>
          <p:cNvPr id="15" name="Text 13"/>
          <p:cNvSpPr/>
          <p:nvPr/>
        </p:nvSpPr>
        <p:spPr>
          <a:xfrm>
            <a:off x="812800" y="4542749"/>
            <a:ext cx="10883392"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D7D9"/>
                </a:solidFill>
                <a:latin typeface="Inter" pitchFamily="34" charset="0"/>
                <a:ea typeface="Inter" pitchFamily="34" charset="-122"/>
                <a:cs typeface="Inter" pitchFamily="34" charset="-120"/>
              </a:rPr>
              <a:t>Watch for:</a:t>
            </a:r>
            <a:r>
              <a:rPr lang="en-US" sz="1400" dirty="0">
                <a:solidFill>
                  <a:srgbClr val="C4C9CF"/>
                </a:solidFill>
                <a:latin typeface="Inter" pitchFamily="34" charset="0"/>
                <a:ea typeface="Inter" pitchFamily="34" charset="-122"/>
                <a:cs typeface="Inter" pitchFamily="34" charset="-120"/>
              </a:rPr>
              <a:t> the generated SQL, where each number comes from, the reasoning trace, and the feedback controls.</a:t>
            </a:r>
            <a:endParaRPr lang="en-US" sz="1400" dirty="0"/>
          </a:p>
        </p:txBody>
      </p:sp>
      <p:sp>
        <p:nvSpPr>
          <p:cNvPr id="16" name="Text 14"/>
          <p:cNvSpPr/>
          <p:nvPr/>
        </p:nvSpPr>
        <p:spPr>
          <a:xfrm>
            <a:off x="812800" y="6238273"/>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8939F"/>
                </a:solidFill>
                <a:latin typeface="Inter" pitchFamily="34" charset="0"/>
                <a:ea typeface="Inter" pitchFamily="34" charset="-122"/>
                <a:cs typeface="Inter" pitchFamily="34" charset="-120"/>
              </a:rPr>
              <a:t>Natural language access to supervisory intelligence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Scaling out: many Genie agents, one front door</a:t>
            </a:r>
            <a:endParaRPr lang="en-US" sz="3200" dirty="0"/>
          </a:p>
        </p:txBody>
      </p:sp>
      <p:sp>
        <p:nvSpPr>
          <p:cNvPr id="4" name="Text 2"/>
          <p:cNvSpPr/>
          <p:nvPr/>
        </p:nvSpPr>
        <p:spPr>
          <a:xfrm>
            <a:off x="812800" y="146303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15265"/>
                </a:solidFill>
                <a:latin typeface="Inter" pitchFamily="34" charset="0"/>
                <a:ea typeface="Inter" pitchFamily="34" charset="-122"/>
                <a:cs typeface="Inter" pitchFamily="34" charset="-120"/>
              </a:rPr>
              <a:t>A supervisor-facing UI talks to one orchestrating agent, which routes each question to the right risk-stripe Genie agent and combines the answers.</a:t>
            </a:r>
            <a:endParaRPr lang="en-US" sz="1500" dirty="0"/>
          </a:p>
        </p:txBody>
      </p:sp>
      <p:sp>
        <p:nvSpPr>
          <p:cNvPr id="5" name="Shape 3"/>
          <p:cNvSpPr/>
          <p:nvPr/>
        </p:nvSpPr>
        <p:spPr>
          <a:xfrm>
            <a:off x="819150" y="3416300"/>
            <a:ext cx="2019300" cy="876300"/>
          </a:xfrm>
          <a:prstGeom prst="roundRect">
            <a:avLst>
              <a:gd name="adj" fmla="val 13768"/>
            </a:avLst>
          </a:prstGeom>
          <a:solidFill>
            <a:srgbClr val="F6F6F6"/>
          </a:solidFill>
          <a:ln w="12700">
            <a:solidFill>
              <a:srgbClr val="12273F"/>
            </a:solidFill>
            <a:prstDash val="solid"/>
          </a:ln>
        </p:spPr>
      </p:sp>
      <p:sp>
        <p:nvSpPr>
          <p:cNvPr id="6" name="Text 4"/>
          <p:cNvSpPr/>
          <p:nvPr/>
        </p:nvSpPr>
        <p:spPr>
          <a:xfrm>
            <a:off x="1002695" y="3574442"/>
            <a:ext cx="1703010" cy="210571"/>
          </a:xfrm>
          <a:prstGeom prst="rect">
            <a:avLst/>
          </a:prstGeom>
          <a:noFill/>
          <a:ln/>
        </p:spPr>
        <p:txBody>
          <a:bodyPr wrap="square" lIns="0" tIns="0" rIns="0" bIns="0" rtlCol="0" anchor="t">
            <a:normAutofit/>
          </a:bodyPr>
          <a:lstStyle/>
          <a:p>
            <a:pPr algn="l" indent="0" marL="0">
              <a:lnSpc>
                <a:spcPts val="1470"/>
              </a:lnSpc>
              <a:buNone/>
            </a:pPr>
            <a:r>
              <a:rPr lang="en-US" sz="1225" b="1" dirty="0">
                <a:solidFill>
                  <a:srgbClr val="12273F"/>
                </a:solidFill>
                <a:latin typeface="Outfit" pitchFamily="34" charset="0"/>
                <a:ea typeface="Outfit" pitchFamily="34" charset="-122"/>
                <a:cs typeface="Outfit" pitchFamily="34" charset="-120"/>
              </a:rPr>
              <a:t>Supervisor UI</a:t>
            </a:r>
            <a:endParaRPr lang="en-US" sz="1225" dirty="0"/>
          </a:p>
        </p:txBody>
      </p:sp>
      <p:sp>
        <p:nvSpPr>
          <p:cNvPr id="7" name="Text 5"/>
          <p:cNvSpPr/>
          <p:nvPr/>
        </p:nvSpPr>
        <p:spPr>
          <a:xfrm>
            <a:off x="1002695" y="3810422"/>
            <a:ext cx="1804005" cy="349439"/>
          </a:xfrm>
          <a:prstGeom prst="rect">
            <a:avLst/>
          </a:prstGeom>
          <a:noFill/>
          <a:ln/>
        </p:spPr>
        <p:txBody>
          <a:bodyPr wrap="square" lIns="0" tIns="0" rIns="0" bIns="0" rtlCol="0" anchor="t">
            <a:normAutofit/>
          </a:bodyPr>
          <a:lstStyle/>
          <a:p>
            <a:pPr algn="l" indent="0" marL="0">
              <a:lnSpc>
                <a:spcPts val="1580"/>
              </a:lnSpc>
              <a:buNone/>
            </a:pPr>
            <a:r>
              <a:rPr lang="en-US" sz="1129" dirty="0">
                <a:solidFill>
                  <a:srgbClr val="415265"/>
                </a:solidFill>
                <a:latin typeface="Inter" pitchFamily="34" charset="0"/>
                <a:ea typeface="Inter" pitchFamily="34" charset="-122"/>
                <a:cs typeface="Inter" pitchFamily="34" charset="-120"/>
              </a:rPr>
              <a:t>Asks and reads answers</a:t>
            </a:r>
            <a:endParaRPr lang="en-US" sz="1129" dirty="0"/>
          </a:p>
        </p:txBody>
      </p:sp>
      <p:sp>
        <p:nvSpPr>
          <p:cNvPr id="8" name="Shape 6"/>
          <p:cNvSpPr/>
          <p:nvPr/>
        </p:nvSpPr>
        <p:spPr>
          <a:xfrm>
            <a:off x="3810000" y="3378200"/>
            <a:ext cx="2286000" cy="952500"/>
          </a:xfrm>
          <a:prstGeom prst="roundRect">
            <a:avLst>
              <a:gd name="adj" fmla="val 13333"/>
            </a:avLst>
          </a:prstGeom>
          <a:solidFill>
            <a:srgbClr val="12273F"/>
          </a:solidFill>
          <a:ln/>
        </p:spPr>
      </p:sp>
      <p:sp>
        <p:nvSpPr>
          <p:cNvPr id="9" name="Text 7"/>
          <p:cNvSpPr/>
          <p:nvPr/>
        </p:nvSpPr>
        <p:spPr>
          <a:xfrm>
            <a:off x="4013200" y="3530600"/>
            <a:ext cx="1935988" cy="242434"/>
          </a:xfrm>
          <a:prstGeom prst="rect">
            <a:avLst/>
          </a:prstGeom>
          <a:noFill/>
          <a:ln/>
        </p:spPr>
        <p:txBody>
          <a:bodyPr wrap="square" lIns="0" tIns="0" rIns="0" bIns="0" rtlCol="0" anchor="t">
            <a:normAutofit/>
          </a:bodyPr>
          <a:lstStyle/>
          <a:p>
            <a:pPr algn="l" indent="0" marL="0">
              <a:lnSpc>
                <a:spcPts val="1722"/>
              </a:lnSpc>
              <a:buNone/>
            </a:pPr>
            <a:r>
              <a:rPr lang="en-US" sz="1435" b="1" dirty="0">
                <a:solidFill>
                  <a:srgbClr val="FFFFFF"/>
                </a:solidFill>
                <a:latin typeface="Outfit" pitchFamily="34" charset="0"/>
                <a:ea typeface="Outfit" pitchFamily="34" charset="-122"/>
                <a:cs typeface="Outfit" pitchFamily="34" charset="-120"/>
              </a:rPr>
              <a:t>Orchestrator agent</a:t>
            </a:r>
            <a:endParaRPr lang="en-US" sz="1435" dirty="0"/>
          </a:p>
        </p:txBody>
      </p:sp>
      <p:sp>
        <p:nvSpPr>
          <p:cNvPr id="10" name="Text 8"/>
          <p:cNvSpPr/>
          <p:nvPr/>
        </p:nvSpPr>
        <p:spPr>
          <a:xfrm>
            <a:off x="4013200" y="3798441"/>
            <a:ext cx="2082800" cy="405266"/>
          </a:xfrm>
          <a:prstGeom prst="rect">
            <a:avLst/>
          </a:prstGeom>
          <a:noFill/>
          <a:ln/>
        </p:spPr>
        <p:txBody>
          <a:bodyPr wrap="square" lIns="0" tIns="0" rIns="0" bIns="0" rtlCol="0" anchor="t">
            <a:normAutofit/>
          </a:bodyPr>
          <a:lstStyle/>
          <a:p>
            <a:pPr algn="l" indent="0" marL="0">
              <a:lnSpc>
                <a:spcPts val="1601"/>
              </a:lnSpc>
              <a:buNone/>
            </a:pPr>
            <a:r>
              <a:rPr lang="en-US" sz="1144" dirty="0">
                <a:solidFill>
                  <a:srgbClr val="C4C9CF"/>
                </a:solidFill>
                <a:latin typeface="Inter" pitchFamily="34" charset="0"/>
                <a:ea typeface="Inter" pitchFamily="34" charset="-122"/>
                <a:cs typeface="Inter" pitchFamily="34" charset="-120"/>
              </a:rPr>
              <a:t>Routes, calls and combines</a:t>
            </a:r>
            <a:endParaRPr lang="en-US" sz="1144" dirty="0"/>
          </a:p>
        </p:txBody>
      </p:sp>
      <p:sp>
        <p:nvSpPr>
          <p:cNvPr id="11" name="Shape 9"/>
          <p:cNvSpPr/>
          <p:nvPr/>
        </p:nvSpPr>
        <p:spPr>
          <a:xfrm>
            <a:off x="6991350" y="2495550"/>
            <a:ext cx="3543300" cy="749300"/>
          </a:xfrm>
          <a:prstGeom prst="roundRect">
            <a:avLst>
              <a:gd name="adj" fmla="val 12712"/>
            </a:avLst>
          </a:prstGeom>
          <a:solidFill>
            <a:srgbClr val="F6F6F6"/>
          </a:solidFill>
          <a:ln w="12700">
            <a:solidFill>
              <a:srgbClr val="34BCC1"/>
            </a:solidFill>
            <a:prstDash val="solid"/>
          </a:ln>
        </p:spPr>
      </p:sp>
      <p:sp>
        <p:nvSpPr>
          <p:cNvPr id="12" name="Text 10"/>
          <p:cNvSpPr/>
          <p:nvPr/>
        </p:nvSpPr>
        <p:spPr>
          <a:xfrm>
            <a:off x="7174895" y="2637817"/>
            <a:ext cx="3271496" cy="23873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73F"/>
                </a:solidFill>
                <a:latin typeface="Outfit" pitchFamily="34" charset="0"/>
                <a:ea typeface="Outfit" pitchFamily="34" charset="-122"/>
                <a:cs typeface="Outfit" pitchFamily="34" charset="-120"/>
              </a:rPr>
              <a:t>Genie agent · [Credit risk]</a:t>
            </a:r>
            <a:endParaRPr lang="en-US" sz="1400" dirty="0"/>
          </a:p>
        </p:txBody>
      </p:sp>
      <p:sp>
        <p:nvSpPr>
          <p:cNvPr id="13" name="Text 11"/>
          <p:cNvSpPr/>
          <p:nvPr/>
        </p:nvSpPr>
        <p:spPr>
          <a:xfrm>
            <a:off x="7174895" y="2889250"/>
            <a:ext cx="327149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[Tables it owns]</a:t>
            </a:r>
            <a:endParaRPr lang="en-US" sz="1200" dirty="0"/>
          </a:p>
        </p:txBody>
      </p:sp>
      <p:sp>
        <p:nvSpPr>
          <p:cNvPr id="14" name="Shape 12"/>
          <p:cNvSpPr/>
          <p:nvPr/>
        </p:nvSpPr>
        <p:spPr>
          <a:xfrm>
            <a:off x="6991350" y="3479800"/>
            <a:ext cx="3543300" cy="749300"/>
          </a:xfrm>
          <a:prstGeom prst="roundRect">
            <a:avLst>
              <a:gd name="adj" fmla="val 12712"/>
            </a:avLst>
          </a:prstGeom>
          <a:solidFill>
            <a:srgbClr val="F6F6F6"/>
          </a:solidFill>
          <a:ln w="12700">
            <a:solidFill>
              <a:srgbClr val="34BCC1"/>
            </a:solidFill>
            <a:prstDash val="solid"/>
          </a:ln>
        </p:spPr>
      </p:sp>
      <p:sp>
        <p:nvSpPr>
          <p:cNvPr id="15" name="Text 13"/>
          <p:cNvSpPr/>
          <p:nvPr/>
        </p:nvSpPr>
        <p:spPr>
          <a:xfrm>
            <a:off x="7174895" y="3622067"/>
            <a:ext cx="3271496" cy="23873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73F"/>
                </a:solidFill>
                <a:latin typeface="Outfit" pitchFamily="34" charset="0"/>
                <a:ea typeface="Outfit" pitchFamily="34" charset="-122"/>
                <a:cs typeface="Outfit" pitchFamily="34" charset="-120"/>
              </a:rPr>
              <a:t>Genie agent · [Liquidity]</a:t>
            </a:r>
            <a:endParaRPr lang="en-US" sz="1400" dirty="0"/>
          </a:p>
        </p:txBody>
      </p:sp>
      <p:sp>
        <p:nvSpPr>
          <p:cNvPr id="16" name="Text 14"/>
          <p:cNvSpPr/>
          <p:nvPr/>
        </p:nvSpPr>
        <p:spPr>
          <a:xfrm>
            <a:off x="7174895" y="3873500"/>
            <a:ext cx="327149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[Tables it owns]</a:t>
            </a:r>
            <a:endParaRPr lang="en-US" sz="1200" dirty="0"/>
          </a:p>
        </p:txBody>
      </p:sp>
      <p:sp>
        <p:nvSpPr>
          <p:cNvPr id="17" name="Shape 15"/>
          <p:cNvSpPr/>
          <p:nvPr/>
        </p:nvSpPr>
        <p:spPr>
          <a:xfrm>
            <a:off x="6991350" y="4464050"/>
            <a:ext cx="3543300" cy="749300"/>
          </a:xfrm>
          <a:prstGeom prst="roundRect">
            <a:avLst>
              <a:gd name="adj" fmla="val 12712"/>
            </a:avLst>
          </a:prstGeom>
          <a:solidFill>
            <a:srgbClr val="F6F6F6"/>
          </a:solidFill>
          <a:ln w="12700">
            <a:solidFill>
              <a:srgbClr val="34BCC1"/>
            </a:solidFill>
            <a:prstDash val="solid"/>
          </a:ln>
        </p:spPr>
      </p:sp>
      <p:sp>
        <p:nvSpPr>
          <p:cNvPr id="18" name="Text 16"/>
          <p:cNvSpPr/>
          <p:nvPr/>
        </p:nvSpPr>
        <p:spPr>
          <a:xfrm>
            <a:off x="7174895" y="4606317"/>
            <a:ext cx="3271496" cy="23873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73F"/>
                </a:solidFill>
                <a:latin typeface="Outfit" pitchFamily="34" charset="0"/>
                <a:ea typeface="Outfit" pitchFamily="34" charset="-122"/>
                <a:cs typeface="Outfit" pitchFamily="34" charset="-120"/>
              </a:rPr>
              <a:t>Genie agent · [Capital]</a:t>
            </a:r>
            <a:endParaRPr lang="en-US" sz="1400" dirty="0"/>
          </a:p>
        </p:txBody>
      </p:sp>
      <p:sp>
        <p:nvSpPr>
          <p:cNvPr id="19" name="Text 17"/>
          <p:cNvSpPr/>
          <p:nvPr/>
        </p:nvSpPr>
        <p:spPr>
          <a:xfrm>
            <a:off x="7174895" y="4857750"/>
            <a:ext cx="3271496"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[Tables it owns]</a:t>
            </a:r>
            <a:endParaRPr lang="en-US" sz="1200" dirty="0"/>
          </a:p>
        </p:txBody>
      </p:sp>
      <p:sp>
        <p:nvSpPr>
          <p:cNvPr id="20" name="Shape 18"/>
          <p:cNvSpPr/>
          <p:nvPr/>
        </p:nvSpPr>
        <p:spPr>
          <a:xfrm>
            <a:off x="6096000" y="3841750"/>
            <a:ext cx="393700" cy="25400"/>
          </a:xfrm>
          <a:prstGeom prst="rect">
            <a:avLst/>
          </a:prstGeom>
          <a:solidFill>
            <a:srgbClr val="34BCC1"/>
          </a:solidFill>
          <a:ln/>
        </p:spPr>
      </p:sp>
      <p:sp>
        <p:nvSpPr>
          <p:cNvPr id="21" name="Shape 19"/>
          <p:cNvSpPr/>
          <p:nvPr/>
        </p:nvSpPr>
        <p:spPr>
          <a:xfrm>
            <a:off x="6477000" y="2857500"/>
            <a:ext cx="25400" cy="1993900"/>
          </a:xfrm>
          <a:prstGeom prst="rect">
            <a:avLst/>
          </a:prstGeom>
          <a:solidFill>
            <a:srgbClr val="34BCC1"/>
          </a:solidFill>
          <a:ln/>
        </p:spPr>
      </p:sp>
      <p:pic>
        <p:nvPicPr>
          <p:cNvPr id="22" name="Image 0" descr="connector">    </p:cNvPr>
          <p:cNvPicPr>
            <a:picLocks noChangeAspect="1"/>
          </p:cNvPicPr>
          <p:nvPr/>
        </p:nvPicPr>
        <p:blipFill>
          <a:blip r:embed="rId1"/>
          <a:srcRect l="0" r="0" t="0" b="0"/>
          <a:stretch/>
        </p:blipFill>
        <p:spPr>
          <a:xfrm>
            <a:off x="2806700" y="3790950"/>
            <a:ext cx="1041400" cy="127000"/>
          </a:xfrm>
          <a:prstGeom prst="rect">
            <a:avLst/>
          </a:prstGeom>
        </p:spPr>
      </p:pic>
      <p:pic>
        <p:nvPicPr>
          <p:cNvPr id="23" name="Image 1" descr="connector">    </p:cNvPr>
          <p:cNvPicPr>
            <a:picLocks noChangeAspect="1"/>
          </p:cNvPicPr>
          <p:nvPr/>
        </p:nvPicPr>
        <p:blipFill>
          <a:blip r:embed="rId2"/>
          <a:srcRect l="0" r="0" t="0" b="0"/>
          <a:stretch/>
        </p:blipFill>
        <p:spPr>
          <a:xfrm>
            <a:off x="6426200" y="2806700"/>
            <a:ext cx="596900" cy="127000"/>
          </a:xfrm>
          <a:prstGeom prst="rect">
            <a:avLst/>
          </a:prstGeom>
        </p:spPr>
      </p:pic>
      <p:pic>
        <p:nvPicPr>
          <p:cNvPr id="24" name="Image 2" descr="connector">    </p:cNvPr>
          <p:cNvPicPr>
            <a:picLocks noChangeAspect="1"/>
          </p:cNvPicPr>
          <p:nvPr/>
        </p:nvPicPr>
        <p:blipFill>
          <a:blip r:embed="rId3"/>
          <a:srcRect l="0" r="0" t="0" b="0"/>
          <a:stretch/>
        </p:blipFill>
        <p:spPr>
          <a:xfrm>
            <a:off x="6426200" y="3790950"/>
            <a:ext cx="596900" cy="127000"/>
          </a:xfrm>
          <a:prstGeom prst="rect">
            <a:avLst/>
          </a:prstGeom>
        </p:spPr>
      </p:pic>
      <p:pic>
        <p:nvPicPr>
          <p:cNvPr id="25" name="Image 3" descr="connector">    </p:cNvPr>
          <p:cNvPicPr>
            <a:picLocks noChangeAspect="1"/>
          </p:cNvPicPr>
          <p:nvPr/>
        </p:nvPicPr>
        <p:blipFill>
          <a:blip r:embed="rId4"/>
          <a:srcRect l="0" r="0" t="0" b="0"/>
          <a:stretch/>
        </p:blipFill>
        <p:spPr>
          <a:xfrm>
            <a:off x="6426200" y="4775200"/>
            <a:ext cx="596900" cy="127000"/>
          </a:xfrm>
          <a:prstGeom prst="rect">
            <a:avLst/>
          </a:prstGeom>
        </p:spPr>
      </p:pic>
      <p:sp>
        <p:nvSpPr>
          <p:cNvPr id="26" name="Text 20"/>
          <p:cNvSpPr/>
          <p:nvPr/>
        </p:nvSpPr>
        <p:spPr>
          <a:xfrm>
            <a:off x="2844800" y="3556000"/>
            <a:ext cx="965200" cy="23873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15265"/>
                </a:solidFill>
                <a:latin typeface="Inter" pitchFamily="34" charset="0"/>
                <a:ea typeface="Inter" pitchFamily="34" charset="-122"/>
                <a:cs typeface="Inter" pitchFamily="34" charset="-120"/>
              </a:rPr>
              <a:t>ask · answer</a:t>
            </a:r>
            <a:endParaRPr lang="en-US" sz="1200" dirty="0"/>
          </a:p>
        </p:txBody>
      </p:sp>
      <p:sp>
        <p:nvSpPr>
          <p:cNvPr id="27" name="Shape 21"/>
          <p:cNvSpPr/>
          <p:nvPr/>
        </p:nvSpPr>
        <p:spPr>
          <a:xfrm>
            <a:off x="812800" y="5397500"/>
            <a:ext cx="3556000" cy="408932"/>
          </a:xfrm>
          <a:prstGeom prst="roundRect">
            <a:avLst>
              <a:gd name="adj" fmla="val 50000"/>
            </a:avLst>
          </a:prstGeom>
          <a:solidFill>
            <a:srgbClr val="FF7300"/>
          </a:solidFill>
          <a:ln/>
        </p:spPr>
      </p:sp>
      <p:pic>
        <p:nvPicPr>
          <p:cNvPr id="28" name="Image 4" descr="Play">    </p:cNvPr>
          <p:cNvPicPr>
            <a:picLocks noChangeAspect="1"/>
          </p:cNvPicPr>
          <p:nvPr/>
        </p:nvPicPr>
        <p:blipFill>
          <a:blip r:embed="rId5"/>
          <a:srcRect l="0" r="0" t="0" b="0"/>
          <a:stretch/>
        </p:blipFill>
        <p:spPr>
          <a:xfrm>
            <a:off x="990600" y="5500353"/>
            <a:ext cx="203200" cy="203200"/>
          </a:xfrm>
          <a:prstGeom prst="rect">
            <a:avLst/>
          </a:prstGeom>
        </p:spPr>
      </p:pic>
      <p:sp>
        <p:nvSpPr>
          <p:cNvPr id="29" name="Text 22"/>
          <p:cNvSpPr/>
          <p:nvPr/>
        </p:nvSpPr>
        <p:spPr>
          <a:xfrm>
            <a:off x="1295400" y="5486400"/>
            <a:ext cx="2845707" cy="25653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73F"/>
                </a:solidFill>
                <a:latin typeface="Inter" pitchFamily="34" charset="0"/>
                <a:ea typeface="Inter" pitchFamily="34" charset="-122"/>
                <a:cs typeface="Inter" pitchFamily="34" charset="-120"/>
              </a:rPr>
              <a:t>Video · [Partner name] · 3 min</a:t>
            </a:r>
            <a:endParaRPr lang="en-US" sz="1300" dirty="0"/>
          </a:p>
        </p:txBody>
      </p:sp>
      <p:sp>
        <p:nvSpPr>
          <p:cNvPr id="30" name="Text 23"/>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One agent or many? The trade-offs</a:t>
            </a:r>
            <a:endParaRPr lang="en-US" sz="3200" dirty="0"/>
          </a:p>
        </p:txBody>
      </p:sp>
      <p:sp>
        <p:nvSpPr>
          <p:cNvPr id="4" name="Shape 2"/>
          <p:cNvSpPr/>
          <p:nvPr/>
        </p:nvSpPr>
        <p:spPr>
          <a:xfrm>
            <a:off x="815975" y="1567805"/>
            <a:ext cx="5175250" cy="2232025"/>
          </a:xfrm>
          <a:prstGeom prst="roundRect">
            <a:avLst>
              <a:gd name="adj" fmla="val 5548"/>
            </a:avLst>
          </a:prstGeom>
          <a:solidFill>
            <a:srgbClr val="F6F6F6"/>
          </a:solidFill>
          <a:ln w="6350">
            <a:solidFill>
              <a:srgbClr val="E7E9EC"/>
            </a:solidFill>
            <a:prstDash val="solid"/>
          </a:ln>
        </p:spPr>
      </p:sp>
      <p:sp>
        <p:nvSpPr>
          <p:cNvPr id="5" name="Text 3"/>
          <p:cNvSpPr/>
          <p:nvPr/>
        </p:nvSpPr>
        <p:spPr>
          <a:xfrm>
            <a:off x="1071638" y="1823467"/>
            <a:ext cx="480384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73F"/>
                </a:solidFill>
                <a:latin typeface="Outfit" pitchFamily="34" charset="0"/>
                <a:ea typeface="Outfit" pitchFamily="34" charset="-122"/>
                <a:cs typeface="Outfit" pitchFamily="34" charset="-120"/>
              </a:rPr>
              <a:t>Why split</a:t>
            </a:r>
            <a:endParaRPr lang="en-US" sz="2000" dirty="0"/>
          </a:p>
        </p:txBody>
      </p:sp>
      <p:sp>
        <p:nvSpPr>
          <p:cNvPr id="6" name="Text 4"/>
          <p:cNvSpPr/>
          <p:nvPr/>
        </p:nvSpPr>
        <p:spPr>
          <a:xfrm>
            <a:off x="1156220" y="2255267"/>
            <a:ext cx="4711640" cy="131429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Focused context per domain: easier to describe and test</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Clear ownership: each team curates its own agent</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Narrower permissions for each domain</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Grows without one agent becoming unmanageable</a:t>
            </a:r>
            <a:endParaRPr lang="en-US" sz="1400" dirty="0"/>
          </a:p>
        </p:txBody>
      </p:sp>
      <p:sp>
        <p:nvSpPr>
          <p:cNvPr id="7" name="Shape 5"/>
          <p:cNvSpPr/>
          <p:nvPr/>
        </p:nvSpPr>
        <p:spPr>
          <a:xfrm>
            <a:off x="6200775" y="1567805"/>
            <a:ext cx="5175250" cy="2232025"/>
          </a:xfrm>
          <a:prstGeom prst="roundRect">
            <a:avLst>
              <a:gd name="adj" fmla="val 5548"/>
            </a:avLst>
          </a:prstGeom>
          <a:solidFill>
            <a:srgbClr val="F6F6F6"/>
          </a:solidFill>
          <a:ln w="6350">
            <a:solidFill>
              <a:srgbClr val="E7E9EC"/>
            </a:solidFill>
            <a:prstDash val="solid"/>
          </a:ln>
        </p:spPr>
      </p:sp>
      <p:sp>
        <p:nvSpPr>
          <p:cNvPr id="8" name="Text 6"/>
          <p:cNvSpPr/>
          <p:nvPr/>
        </p:nvSpPr>
        <p:spPr>
          <a:xfrm>
            <a:off x="6456438" y="1823467"/>
            <a:ext cx="480384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73F"/>
                </a:solidFill>
                <a:latin typeface="Outfit" pitchFamily="34" charset="0"/>
                <a:ea typeface="Outfit" pitchFamily="34" charset="-122"/>
                <a:cs typeface="Outfit" pitchFamily="34" charset="-120"/>
              </a:rPr>
              <a:t>What it costs</a:t>
            </a:r>
            <a:endParaRPr lang="en-US" sz="2000" dirty="0"/>
          </a:p>
        </p:txBody>
      </p:sp>
      <p:sp>
        <p:nvSpPr>
          <p:cNvPr id="9" name="Text 7"/>
          <p:cNvSpPr/>
          <p:nvPr/>
        </p:nvSpPr>
        <p:spPr>
          <a:xfrm>
            <a:off x="6541020" y="2255267"/>
            <a:ext cx="4711640" cy="105651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Routing errors: the wrong agent gets the question</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More latency from the extra hop</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Cross-domain answers must be stitched together</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More to evaluate: every agent and the orchestrator</a:t>
            </a:r>
            <a:endParaRPr lang="en-US" sz="1400" dirty="0"/>
          </a:p>
        </p:txBody>
      </p:sp>
      <p:sp>
        <p:nvSpPr>
          <p:cNvPr id="10" name="Text 8"/>
          <p:cNvSpPr/>
          <p:nvPr/>
        </p:nvSpPr>
        <p:spPr>
          <a:xfrm>
            <a:off x="812800" y="4107805"/>
            <a:ext cx="10883392"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Rule of thumb:</a:t>
            </a:r>
            <a:r>
              <a:rPr lang="en-US" sz="1400" dirty="0">
                <a:solidFill>
                  <a:srgbClr val="12273F"/>
                </a:solidFill>
                <a:latin typeface="Inter" pitchFamily="34" charset="0"/>
                <a:ea typeface="Inter" pitchFamily="34" charset="-122"/>
                <a:cs typeface="Inter" pitchFamily="34" charset="-120"/>
              </a:rPr>
              <a:t> start with one well-curated agent; split when a domain needs its own tables, instructions and owner.</a:t>
            </a:r>
            <a:endParaRPr lang="en-US" sz="1400" dirty="0"/>
          </a:p>
        </p:txBody>
      </p:sp>
      <p:sp>
        <p:nvSpPr>
          <p:cNvPr id="11" name="Text 9"/>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493000" cy="3429000"/>
          </a:xfrm>
          <a:prstGeom prst="rect">
            <a:avLst/>
          </a:prstGeom>
          <a:solidFill>
            <a:srgbClr val="12273F"/>
          </a:solidFill>
          <a:ln/>
        </p:spPr>
      </p:sp>
      <p:sp>
        <p:nvSpPr>
          <p:cNvPr id="3" name="Shape 1"/>
          <p:cNvSpPr/>
          <p:nvPr/>
        </p:nvSpPr>
        <p:spPr>
          <a:xfrm>
            <a:off x="7493000" y="0"/>
            <a:ext cx="4699000" cy="3429000"/>
          </a:xfrm>
          <a:prstGeom prst="rect">
            <a:avLst/>
          </a:prstGeom>
          <a:gradFill rotWithShape="1">
            <a:gsLst>
              <a:gs pos="0">
                <a:srgbClr val="3CD7D9"/>
              </a:gs>
              <a:gs pos="62000">
                <a:srgbClr val="3CD7D9"/>
              </a:gs>
              <a:gs pos="62000">
                <a:srgbClr val="77E3E4"/>
              </a:gs>
              <a:gs pos="100000">
                <a:srgbClr val="77E3E4"/>
              </a:gs>
            </a:gsLst>
            <a:lin ang="0" scaled="0"/>
          </a:gradFill>
          <a:ln/>
        </p:spPr>
      </p:sp>
      <p:sp>
        <p:nvSpPr>
          <p:cNvPr id="4" name="Text 2"/>
          <p:cNvSpPr/>
          <p:nvPr/>
        </p:nvSpPr>
        <p:spPr>
          <a:xfrm>
            <a:off x="812800" y="4584737"/>
            <a:ext cx="10883392" cy="256532"/>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2273F"/>
                </a:solidFill>
                <a:latin typeface="Inter" pitchFamily="34" charset="0"/>
                <a:ea typeface="Inter" pitchFamily="34" charset="-122"/>
                <a:cs typeface="Inter" pitchFamily="34" charset="-120"/>
              </a:rPr>
              <a:t>PART 4 OF 4</a:t>
            </a:r>
            <a:endParaRPr lang="en-US" sz="1300" dirty="0"/>
          </a:p>
        </p:txBody>
      </p:sp>
      <p:sp>
        <p:nvSpPr>
          <p:cNvPr id="5" name="Text 3"/>
          <p:cNvSpPr/>
          <p:nvPr>
            <p:ph type="title"/>
          </p:nvPr>
        </p:nvSpPr>
        <p:spPr>
          <a:xfrm>
            <a:off x="812800" y="4968267"/>
            <a:ext cx="10883392" cy="665465"/>
          </a:xfrm>
          <a:prstGeom prst="rect">
            <a:avLst/>
          </a:prstGeom>
          <a:noFill/>
          <a:ln/>
        </p:spPr>
        <p:txBody>
          <a:bodyPr wrap="square" lIns="0" tIns="0" rIns="0" bIns="0" rtlCol="0" anchor="t">
            <a:normAutofit/>
          </a:bodyPr>
          <a:lstStyle/>
          <a:p>
            <a:pPr algn="l" indent="0" marL="0">
              <a:lnSpc>
                <a:spcPts val="5040"/>
              </a:lnSpc>
              <a:buNone/>
            </a:pPr>
            <a:r>
              <a:rPr lang="en-US" sz="4800" b="0" i="0" dirty="0">
                <a:solidFill>
                  <a:srgbClr val="12273F"/>
                </a:solidFill>
                <a:latin typeface="Outfit" pitchFamily="34" charset="0"/>
                <a:ea typeface="Outfit" pitchFamily="34" charset="-122"/>
                <a:cs typeface="Outfit" pitchFamily="34" charset="-120"/>
              </a:rPr>
              <a:t>Trust and next steps</a:t>
            </a:r>
            <a:endParaRPr lang="en-US" sz="4800" dirty="0"/>
          </a:p>
        </p:txBody>
      </p:sp>
      <p:sp>
        <p:nvSpPr>
          <p:cNvPr id="6" name="Text 4"/>
          <p:cNvSpPr/>
          <p:nvPr/>
        </p:nvSpPr>
        <p:spPr>
          <a:xfrm>
            <a:off x="812800" y="5760740"/>
            <a:ext cx="10883392" cy="30986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15265"/>
                </a:solidFill>
                <a:latin typeface="Inter" pitchFamily="34" charset="0"/>
                <a:ea typeface="Inter" pitchFamily="34" charset="-122"/>
                <a:cs typeface="Inter" pitchFamily="34" charset="-120"/>
              </a:rPr>
              <a:t>Risks, benchmarks, feedback and roadmap</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Trust comes from transparency, testing and permissions</a:t>
            </a:r>
            <a:endParaRPr lang="en-US" sz="3200" dirty="0"/>
          </a:p>
        </p:txBody>
      </p:sp>
      <p:sp>
        <p:nvSpPr>
          <p:cNvPr id="4" name="Shape 2"/>
          <p:cNvSpPr/>
          <p:nvPr/>
        </p:nvSpPr>
        <p:spPr>
          <a:xfrm>
            <a:off x="812800" y="1564630"/>
            <a:ext cx="10566400" cy="2397957"/>
          </a:xfrm>
          <a:prstGeom prst="rect">
            <a:avLst/>
          </a:prstGeom>
          <a:solidFill>
            <a:srgbClr val="FFFFFF"/>
          </a:solidFill>
          <a:ln/>
        </p:spPr>
      </p:sp>
      <p:sp>
        <p:nvSpPr>
          <p:cNvPr id="5" name="Shape 3"/>
          <p:cNvSpPr/>
          <p:nvPr/>
        </p:nvSpPr>
        <p:spPr>
          <a:xfrm>
            <a:off x="11376025" y="1564630"/>
            <a:ext cx="0" cy="2397957"/>
          </a:xfrm>
          <a:prstGeom prst="line">
            <a:avLst/>
          </a:prstGeom>
          <a:noFill/>
          <a:ln w="6350">
            <a:solidFill>
              <a:srgbClr val="E7E9EC"/>
            </a:solidFill>
            <a:prstDash val="solid"/>
          </a:ln>
        </p:spPr>
      </p:sp>
      <p:sp>
        <p:nvSpPr>
          <p:cNvPr id="6" name="Shape 4"/>
          <p:cNvSpPr/>
          <p:nvPr/>
        </p:nvSpPr>
        <p:spPr>
          <a:xfrm>
            <a:off x="812800" y="3959412"/>
            <a:ext cx="10566400" cy="0"/>
          </a:xfrm>
          <a:prstGeom prst="line">
            <a:avLst/>
          </a:prstGeom>
          <a:noFill/>
          <a:ln w="6350">
            <a:solidFill>
              <a:srgbClr val="E7E9EC"/>
            </a:solidFill>
            <a:prstDash val="solid"/>
          </a:ln>
        </p:spPr>
      </p:sp>
      <p:sp>
        <p:nvSpPr>
          <p:cNvPr id="7" name="Shape 5"/>
          <p:cNvSpPr/>
          <p:nvPr/>
        </p:nvSpPr>
        <p:spPr>
          <a:xfrm>
            <a:off x="812800" y="1570678"/>
            <a:ext cx="10566400" cy="0"/>
          </a:xfrm>
          <a:prstGeom prst="line">
            <a:avLst/>
          </a:prstGeom>
          <a:noFill/>
          <a:ln w="12095">
            <a:solidFill>
              <a:srgbClr val="141413">
                <a:alpha val="22000"/>
              </a:srgbClr>
            </a:solidFill>
            <a:prstDash val="solid"/>
          </a:ln>
        </p:spPr>
      </p:sp>
      <p:sp>
        <p:nvSpPr>
          <p:cNvPr id="8" name="Shape 6"/>
          <p:cNvSpPr/>
          <p:nvPr/>
        </p:nvSpPr>
        <p:spPr>
          <a:xfrm>
            <a:off x="818848" y="1564630"/>
            <a:ext cx="0" cy="2397957"/>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77295" y="1691025"/>
          <a:ext cx="10244667" cy="2152423"/>
        </p:xfrm>
        <a:graphic>
          <a:graphicData uri="http://schemas.openxmlformats.org/drawingml/2006/table">
            <a:tbl>
              <a:tblPr/>
              <a:tblGrid>
                <a:gridCol w="4097867"/>
                <a:gridCol w="6146800"/>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Risk</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Mitigation</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Ambiguous questions hit the wrong metric</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Rich descriptions, synonyms and supervisory instructions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Plausible but wrong SQL</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SQL shown with every answer; benchmarks rerun on each change</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Errors inherited from extraction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Provenance to the source page; evaluation of extraction (next talk)</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Over-reliance on agent conclusions</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Reports are a starting point for supervisory judgement, not a verdict</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Access to sensitive firm data</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Unity Catalog permissions govern what each user can query</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Benchmarks: testing Genie before supervisors do</a:t>
            </a:r>
            <a:endParaRPr lang="en-US" sz="3200" dirty="0"/>
          </a:p>
        </p:txBody>
      </p:sp>
      <p:sp>
        <p:nvSpPr>
          <p:cNvPr id="4" name="Shape 2"/>
          <p:cNvSpPr/>
          <p:nvPr/>
        </p:nvSpPr>
        <p:spPr>
          <a:xfrm>
            <a:off x="815975" y="1491605"/>
            <a:ext cx="2311400" cy="1341815"/>
          </a:xfrm>
          <a:prstGeom prst="roundRect">
            <a:avLst>
              <a:gd name="adj" fmla="val 9228"/>
            </a:avLst>
          </a:prstGeom>
          <a:solidFill>
            <a:srgbClr val="F6F6F6"/>
          </a:solidFill>
          <a:ln w="6350">
            <a:solidFill>
              <a:srgbClr val="E7E9EC"/>
            </a:solidFill>
            <a:prstDash val="solid"/>
          </a:ln>
        </p:spPr>
      </p:sp>
      <p:sp>
        <p:nvSpPr>
          <p:cNvPr id="5" name="Text 3"/>
          <p:cNvSpPr/>
          <p:nvPr/>
        </p:nvSpPr>
        <p:spPr>
          <a:xfrm>
            <a:off x="995438" y="1671067"/>
            <a:ext cx="15334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1</a:t>
            </a:r>
            <a:endParaRPr lang="en-US" sz="2200" dirty="0"/>
          </a:p>
        </p:txBody>
      </p:sp>
      <p:sp>
        <p:nvSpPr>
          <p:cNvPr id="6" name="Text 4"/>
          <p:cNvSpPr/>
          <p:nvPr/>
        </p:nvSpPr>
        <p:spPr>
          <a:xfrm>
            <a:off x="1186883" y="1696467"/>
            <a:ext cx="160432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Write questions</a:t>
            </a:r>
            <a:endParaRPr lang="en-US" sz="1500" dirty="0"/>
          </a:p>
        </p:txBody>
      </p:sp>
      <p:sp>
        <p:nvSpPr>
          <p:cNvPr id="7" name="Text 5"/>
          <p:cNvSpPr/>
          <p:nvPr/>
        </p:nvSpPr>
        <p:spPr>
          <a:xfrm>
            <a:off x="995438" y="2013967"/>
            <a:ext cx="2011048" cy="6653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Real supervisory questions, each in several phrasings</a:t>
            </a:r>
            <a:endParaRPr lang="en-US" sz="1200" dirty="0"/>
          </a:p>
        </p:txBody>
      </p:sp>
      <p:pic>
        <p:nvPicPr>
          <p:cNvPr id="8" name="Image 0" descr="arrow-right">    </p:cNvPr>
          <p:cNvPicPr>
            <a:picLocks noChangeAspect="1"/>
          </p:cNvPicPr>
          <p:nvPr/>
        </p:nvPicPr>
        <p:blipFill>
          <a:blip r:embed="rId1"/>
          <a:srcRect l="0" r="0" t="0" b="0"/>
          <a:stretch/>
        </p:blipFill>
        <p:spPr>
          <a:xfrm>
            <a:off x="3206750" y="2092672"/>
            <a:ext cx="279400" cy="139700"/>
          </a:xfrm>
          <a:prstGeom prst="rect">
            <a:avLst/>
          </a:prstGeom>
        </p:spPr>
      </p:pic>
      <p:sp>
        <p:nvSpPr>
          <p:cNvPr id="9" name="Shape 6"/>
          <p:cNvSpPr/>
          <p:nvPr/>
        </p:nvSpPr>
        <p:spPr>
          <a:xfrm>
            <a:off x="3565525" y="1491605"/>
            <a:ext cx="2311400" cy="1341815"/>
          </a:xfrm>
          <a:prstGeom prst="roundRect">
            <a:avLst>
              <a:gd name="adj" fmla="val 9228"/>
            </a:avLst>
          </a:prstGeom>
          <a:solidFill>
            <a:srgbClr val="F6F6F6"/>
          </a:solidFill>
          <a:ln w="6350">
            <a:solidFill>
              <a:srgbClr val="E7E9EC"/>
            </a:solidFill>
            <a:prstDash val="solid"/>
          </a:ln>
        </p:spPr>
      </p:sp>
      <p:sp>
        <p:nvSpPr>
          <p:cNvPr id="10" name="Text 7"/>
          <p:cNvSpPr/>
          <p:nvPr/>
        </p:nvSpPr>
        <p:spPr>
          <a:xfrm>
            <a:off x="3744988" y="1671067"/>
            <a:ext cx="205317"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2</a:t>
            </a:r>
            <a:endParaRPr lang="en-US" sz="2200" dirty="0"/>
          </a:p>
        </p:txBody>
      </p:sp>
      <p:sp>
        <p:nvSpPr>
          <p:cNvPr id="11" name="Text 8"/>
          <p:cNvSpPr/>
          <p:nvPr/>
        </p:nvSpPr>
        <p:spPr>
          <a:xfrm>
            <a:off x="3988405" y="1696467"/>
            <a:ext cx="14154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Add gold SQL</a:t>
            </a:r>
            <a:endParaRPr lang="en-US" sz="1500" dirty="0"/>
          </a:p>
        </p:txBody>
      </p:sp>
      <p:sp>
        <p:nvSpPr>
          <p:cNvPr id="12" name="Text 9"/>
          <p:cNvSpPr/>
          <p:nvPr/>
        </p:nvSpPr>
        <p:spPr>
          <a:xfrm>
            <a:off x="3744988" y="2013967"/>
            <a:ext cx="2011048"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The query that returns the correct answer</a:t>
            </a:r>
            <a:endParaRPr lang="en-US" sz="1200" dirty="0"/>
          </a:p>
        </p:txBody>
      </p:sp>
      <p:pic>
        <p:nvPicPr>
          <p:cNvPr id="13" name="Image 1" descr="arrow-right">    </p:cNvPr>
          <p:cNvPicPr>
            <a:picLocks noChangeAspect="1"/>
          </p:cNvPicPr>
          <p:nvPr/>
        </p:nvPicPr>
        <p:blipFill>
          <a:blip r:embed="rId2"/>
          <a:srcRect l="0" r="0" t="0" b="0"/>
          <a:stretch/>
        </p:blipFill>
        <p:spPr>
          <a:xfrm>
            <a:off x="5956300" y="2092672"/>
            <a:ext cx="279400" cy="139700"/>
          </a:xfrm>
          <a:prstGeom prst="rect">
            <a:avLst/>
          </a:prstGeom>
        </p:spPr>
      </p:pic>
      <p:sp>
        <p:nvSpPr>
          <p:cNvPr id="14" name="Shape 10"/>
          <p:cNvSpPr/>
          <p:nvPr/>
        </p:nvSpPr>
        <p:spPr>
          <a:xfrm>
            <a:off x="6315075" y="1491605"/>
            <a:ext cx="2311400" cy="1341815"/>
          </a:xfrm>
          <a:prstGeom prst="roundRect">
            <a:avLst>
              <a:gd name="adj" fmla="val 9228"/>
            </a:avLst>
          </a:prstGeom>
          <a:solidFill>
            <a:srgbClr val="F6F6F6"/>
          </a:solidFill>
          <a:ln w="6350">
            <a:solidFill>
              <a:srgbClr val="E7E9EC"/>
            </a:solidFill>
            <a:prstDash val="solid"/>
          </a:ln>
        </p:spPr>
      </p:sp>
      <p:sp>
        <p:nvSpPr>
          <p:cNvPr id="15" name="Text 11"/>
          <p:cNvSpPr/>
          <p:nvPr/>
        </p:nvSpPr>
        <p:spPr>
          <a:xfrm>
            <a:off x="6494538" y="1671067"/>
            <a:ext cx="20448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3</a:t>
            </a:r>
            <a:endParaRPr lang="en-US" sz="2200" dirty="0"/>
          </a:p>
        </p:txBody>
      </p:sp>
      <p:sp>
        <p:nvSpPr>
          <p:cNvPr id="16" name="Text 12"/>
          <p:cNvSpPr/>
          <p:nvPr/>
        </p:nvSpPr>
        <p:spPr>
          <a:xfrm>
            <a:off x="6737124" y="1696467"/>
            <a:ext cx="3929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Run</a:t>
            </a:r>
            <a:endParaRPr lang="en-US" sz="1500" dirty="0"/>
          </a:p>
        </p:txBody>
      </p:sp>
      <p:sp>
        <p:nvSpPr>
          <p:cNvPr id="17" name="Text 13"/>
          <p:cNvSpPr/>
          <p:nvPr/>
        </p:nvSpPr>
        <p:spPr>
          <a:xfrm>
            <a:off x="6494538" y="2013967"/>
            <a:ext cx="2011048"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Genie answers every question from scratch</a:t>
            </a:r>
            <a:endParaRPr lang="en-US" sz="1200" dirty="0"/>
          </a:p>
        </p:txBody>
      </p:sp>
      <p:pic>
        <p:nvPicPr>
          <p:cNvPr id="18" name="Image 2" descr="arrow-right">    </p:cNvPr>
          <p:cNvPicPr>
            <a:picLocks noChangeAspect="1"/>
          </p:cNvPicPr>
          <p:nvPr/>
        </p:nvPicPr>
        <p:blipFill>
          <a:blip r:embed="rId3"/>
          <a:srcRect l="0" r="0" t="0" b="0"/>
          <a:stretch/>
        </p:blipFill>
        <p:spPr>
          <a:xfrm>
            <a:off x="8705850" y="2092672"/>
            <a:ext cx="279400" cy="139700"/>
          </a:xfrm>
          <a:prstGeom prst="rect">
            <a:avLst/>
          </a:prstGeom>
        </p:spPr>
      </p:pic>
      <p:sp>
        <p:nvSpPr>
          <p:cNvPr id="19" name="Shape 14"/>
          <p:cNvSpPr/>
          <p:nvPr/>
        </p:nvSpPr>
        <p:spPr>
          <a:xfrm>
            <a:off x="9064625" y="1491605"/>
            <a:ext cx="2311400" cy="1341815"/>
          </a:xfrm>
          <a:prstGeom prst="roundRect">
            <a:avLst>
              <a:gd name="adj" fmla="val 9228"/>
            </a:avLst>
          </a:prstGeom>
          <a:solidFill>
            <a:srgbClr val="F6F6F6"/>
          </a:solidFill>
          <a:ln w="6350">
            <a:solidFill>
              <a:srgbClr val="E7E9EC"/>
            </a:solidFill>
            <a:prstDash val="solid"/>
          </a:ln>
        </p:spPr>
      </p:sp>
      <p:sp>
        <p:nvSpPr>
          <p:cNvPr id="20" name="Text 15"/>
          <p:cNvSpPr/>
          <p:nvPr/>
        </p:nvSpPr>
        <p:spPr>
          <a:xfrm>
            <a:off x="9244088" y="1671067"/>
            <a:ext cx="219566"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34BCC1"/>
                </a:solidFill>
                <a:latin typeface="Outfit" pitchFamily="34" charset="0"/>
                <a:ea typeface="Outfit" pitchFamily="34" charset="-122"/>
                <a:cs typeface="Outfit" pitchFamily="34" charset="-120"/>
              </a:rPr>
              <a:t>4</a:t>
            </a:r>
            <a:endParaRPr lang="en-US" sz="2200" dirty="0"/>
          </a:p>
        </p:txBody>
      </p:sp>
      <p:sp>
        <p:nvSpPr>
          <p:cNvPr id="21" name="Text 16"/>
          <p:cNvSpPr/>
          <p:nvPr/>
        </p:nvSpPr>
        <p:spPr>
          <a:xfrm>
            <a:off x="9501755" y="1696467"/>
            <a:ext cx="9667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73F"/>
                </a:solidFill>
                <a:latin typeface="Outfit" pitchFamily="34" charset="0"/>
                <a:ea typeface="Outfit" pitchFamily="34" charset="-122"/>
                <a:cs typeface="Outfit" pitchFamily="34" charset="-120"/>
              </a:rPr>
              <a:t>Compare</a:t>
            </a:r>
            <a:endParaRPr lang="en-US" sz="1500" dirty="0"/>
          </a:p>
        </p:txBody>
      </p:sp>
      <p:sp>
        <p:nvSpPr>
          <p:cNvPr id="22" name="Text 17"/>
          <p:cNvSpPr/>
          <p:nvPr/>
        </p:nvSpPr>
        <p:spPr>
          <a:xfrm>
            <a:off x="9244088" y="2013967"/>
            <a:ext cx="2011048"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Genie's result vs the gold result</a:t>
            </a:r>
            <a:endParaRPr lang="en-US" sz="1200" dirty="0"/>
          </a:p>
        </p:txBody>
      </p:sp>
      <p:sp>
        <p:nvSpPr>
          <p:cNvPr id="23" name="Shape 18"/>
          <p:cNvSpPr/>
          <p:nvPr/>
        </p:nvSpPr>
        <p:spPr>
          <a:xfrm>
            <a:off x="812800" y="3065202"/>
            <a:ext cx="5176762" cy="2381855"/>
          </a:xfrm>
          <a:prstGeom prst="roundRect">
            <a:avLst>
              <a:gd name="adj" fmla="val 5332"/>
            </a:avLst>
          </a:prstGeom>
          <a:solidFill>
            <a:srgbClr val="12273F"/>
          </a:solidFill>
          <a:ln/>
        </p:spPr>
      </p:sp>
      <p:sp>
        <p:nvSpPr>
          <p:cNvPr id="24" name="Text 19"/>
          <p:cNvSpPr/>
          <p:nvPr/>
        </p:nvSpPr>
        <p:spPr>
          <a:xfrm>
            <a:off x="1041400" y="3293802"/>
            <a:ext cx="486114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EXAMPLE BENCHMARK</a:t>
            </a:r>
            <a:endParaRPr lang="en-US" sz="1200" dirty="0"/>
          </a:p>
        </p:txBody>
      </p:sp>
      <p:sp>
        <p:nvSpPr>
          <p:cNvPr id="25" name="Text 20"/>
          <p:cNvSpPr/>
          <p:nvPr/>
        </p:nvSpPr>
        <p:spPr>
          <a:xfrm>
            <a:off x="1041400" y="3596035"/>
            <a:ext cx="4861149" cy="26541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FFFFF"/>
                </a:solidFill>
                <a:latin typeface="Inter" pitchFamily="34" charset="0"/>
                <a:ea typeface="Inter" pitchFamily="34" charset="-122"/>
                <a:cs typeface="Inter" pitchFamily="34" charset="-120"/>
              </a:rPr>
              <a:t>"Which firms' Stage 3 loans rose this quarter?"</a:t>
            </a:r>
            <a:endParaRPr lang="en-US" sz="1400" dirty="0"/>
          </a:p>
        </p:txBody>
      </p:sp>
      <p:sp>
        <p:nvSpPr>
          <p:cNvPr id="26" name="Text 21"/>
          <p:cNvSpPr/>
          <p:nvPr/>
        </p:nvSpPr>
        <p:spPr>
          <a:xfrm>
            <a:off x="1041400" y="3924945"/>
            <a:ext cx="486114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9CF"/>
                </a:solidFill>
                <a:latin typeface="Inter" pitchFamily="34" charset="0"/>
                <a:ea typeface="Inter" pitchFamily="34" charset="-122"/>
                <a:cs typeface="Inter" pitchFamily="34" charset="-120"/>
              </a:rPr>
              <a:t>Also asked as: "Where did credit-impaired lending increase in [Q2]?"</a:t>
            </a:r>
            <a:endParaRPr lang="en-US" sz="1200" dirty="0"/>
          </a:p>
        </p:txBody>
      </p:sp>
      <p:sp>
        <p:nvSpPr>
          <p:cNvPr id="27" name="Text 22"/>
          <p:cNvSpPr/>
          <p:nvPr/>
        </p:nvSpPr>
        <p:spPr>
          <a:xfrm>
            <a:off x="1041400" y="4440510"/>
            <a:ext cx="486114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C9CF"/>
                </a:solidFill>
                <a:latin typeface="Inter" pitchFamily="34" charset="0"/>
                <a:ea typeface="Inter" pitchFamily="34" charset="-122"/>
                <a:cs typeface="Inter" pitchFamily="34" charset="-120"/>
              </a:rPr>
              <a:t>Gold SQL returns the list of firms. Genie passes only if it returns the same list for every phrasing.</a:t>
            </a:r>
            <a:endParaRPr lang="en-US" sz="1200" dirty="0"/>
          </a:p>
        </p:txBody>
      </p:sp>
      <p:sp>
        <p:nvSpPr>
          <p:cNvPr id="28" name="Shape 23"/>
          <p:cNvSpPr/>
          <p:nvPr/>
        </p:nvSpPr>
        <p:spPr>
          <a:xfrm>
            <a:off x="6195937" y="3068377"/>
            <a:ext cx="5180088" cy="2375505"/>
          </a:xfrm>
          <a:prstGeom prst="roundRect">
            <a:avLst>
              <a:gd name="adj" fmla="val 5213"/>
            </a:avLst>
          </a:prstGeom>
          <a:solidFill>
            <a:srgbClr val="F6F6F6"/>
          </a:solidFill>
          <a:ln w="6350">
            <a:solidFill>
              <a:srgbClr val="E7E9EC"/>
            </a:solidFill>
            <a:prstDash val="solid"/>
          </a:ln>
        </p:spPr>
      </p:sp>
      <p:sp>
        <p:nvSpPr>
          <p:cNvPr id="29" name="Text 24"/>
          <p:cNvSpPr/>
          <p:nvPr/>
        </p:nvSpPr>
        <p:spPr>
          <a:xfrm>
            <a:off x="6426200" y="3298639"/>
            <a:ext cx="4861149"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WHAT A RUN TELLS YOU</a:t>
            </a:r>
            <a:endParaRPr lang="en-US" sz="1200" dirty="0"/>
          </a:p>
        </p:txBody>
      </p:sp>
      <p:sp>
        <p:nvSpPr>
          <p:cNvPr id="30" name="Text 25"/>
          <p:cNvSpPr/>
          <p:nvPr/>
        </p:nvSpPr>
        <p:spPr>
          <a:xfrm>
            <a:off x="6426200" y="3613572"/>
            <a:ext cx="1460500" cy="289530"/>
          </a:xfrm>
          <a:custGeom>
            <a:avLst/>
            <a:gdLst/>
            <a:ahLst/>
            <a:cxnLst/>
            <a:rect l="l" t="t" r="r" b="b"/>
            <a:pathLst>
              <a:path w="1460500" h="289530">
                <a:moveTo>
                  <a:pt x="144765" y="0"/>
                </a:moveTo>
                <a:lnTo>
                  <a:pt x="1315735" y="0"/>
                </a:lnTo>
                <a:arcTo hR="144765" wR="144765" stAng="16200000" swAng="5400000"/>
                <a:lnTo>
                  <a:pt x="1460500" y="144765"/>
                </a:lnTo>
                <a:arcTo hR="144765" wR="144765" stAng="0" swAng="5400000"/>
                <a:lnTo>
                  <a:pt x="144765" y="289530"/>
                </a:lnTo>
                <a:arcTo hR="144765" wR="144765" stAng="5400000" swAng="5400000"/>
                <a:lnTo>
                  <a:pt x="0" y="144765"/>
                </a:lnTo>
                <a:arcTo hR="144765" wR="144765" stAng="10800000" swAng="5400000"/>
                <a:close/>
              </a:path>
            </a:pathLst>
          </a:custGeom>
          <a:solidFill>
            <a:srgbClr val="A5D700"/>
          </a:solidFill>
          <a:ln/>
        </p:spPr>
        <p:txBody>
          <a:bodyPr wrap="square" lIns="76200" tIns="38100" rIns="76200" bIns="12700" rtlCol="0" anchor="t">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Correct</a:t>
            </a:r>
            <a:endParaRPr lang="en-US" sz="1200" dirty="0"/>
          </a:p>
        </p:txBody>
      </p:sp>
      <p:sp>
        <p:nvSpPr>
          <p:cNvPr id="31" name="Text 26"/>
          <p:cNvSpPr/>
          <p:nvPr/>
        </p:nvSpPr>
        <p:spPr>
          <a:xfrm>
            <a:off x="7988300" y="3655442"/>
            <a:ext cx="3252186" cy="2311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15265"/>
                </a:solidFill>
                <a:latin typeface="Inter" pitchFamily="34" charset="0"/>
                <a:ea typeface="Inter" pitchFamily="34" charset="-122"/>
                <a:cs typeface="Inter" pitchFamily="34" charset="-120"/>
              </a:rPr>
              <a:t>Result matches the gold answer</a:t>
            </a:r>
            <a:endParaRPr lang="en-US" sz="1200" dirty="0"/>
          </a:p>
        </p:txBody>
      </p:sp>
      <p:sp>
        <p:nvSpPr>
          <p:cNvPr id="32" name="Text 27"/>
          <p:cNvSpPr/>
          <p:nvPr/>
        </p:nvSpPr>
        <p:spPr>
          <a:xfrm>
            <a:off x="6426200" y="4004692"/>
            <a:ext cx="1460500" cy="289530"/>
          </a:xfrm>
          <a:custGeom>
            <a:avLst/>
            <a:gdLst/>
            <a:ahLst/>
            <a:cxnLst/>
            <a:rect l="l" t="t" r="r" b="b"/>
            <a:pathLst>
              <a:path w="1460500" h="289530">
                <a:moveTo>
                  <a:pt x="144765" y="0"/>
                </a:moveTo>
                <a:lnTo>
                  <a:pt x="1315735" y="0"/>
                </a:lnTo>
                <a:arcTo hR="144765" wR="144765" stAng="16200000" swAng="5400000"/>
                <a:lnTo>
                  <a:pt x="1460500" y="144765"/>
                </a:lnTo>
                <a:arcTo hR="144765" wR="144765" stAng="0" swAng="5400000"/>
                <a:lnTo>
                  <a:pt x="144765" y="289530"/>
                </a:lnTo>
                <a:arcTo hR="144765" wR="144765" stAng="5400000" swAng="5400000"/>
                <a:lnTo>
                  <a:pt x="0" y="144765"/>
                </a:lnTo>
                <a:arcTo hR="144765" wR="144765" stAng="10800000" swAng="5400000"/>
                <a:close/>
              </a:path>
            </a:pathLst>
          </a:custGeom>
          <a:solidFill>
            <a:srgbClr val="FF7300"/>
          </a:solidFill>
          <a:ln/>
        </p:spPr>
        <p:txBody>
          <a:bodyPr wrap="square" lIns="76200" tIns="38100" rIns="76200" bIns="12700" rtlCol="0" anchor="t">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Incorrect</a:t>
            </a:r>
            <a:endParaRPr lang="en-US" sz="1200" dirty="0"/>
          </a:p>
        </p:txBody>
      </p:sp>
      <p:sp>
        <p:nvSpPr>
          <p:cNvPr id="33" name="Text 28"/>
          <p:cNvSpPr/>
          <p:nvPr/>
        </p:nvSpPr>
        <p:spPr>
          <a:xfrm>
            <a:off x="7988300" y="4046575"/>
            <a:ext cx="3252186" cy="2311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15265"/>
                </a:solidFill>
                <a:latin typeface="Inter" pitchFamily="34" charset="0"/>
                <a:ea typeface="Inter" pitchFamily="34" charset="-122"/>
                <a:cs typeface="Inter" pitchFamily="34" charset="-120"/>
              </a:rPr>
              <a:t>Wrong result: diagnose why</a:t>
            </a:r>
            <a:endParaRPr lang="en-US" sz="1200" dirty="0"/>
          </a:p>
        </p:txBody>
      </p:sp>
      <p:sp>
        <p:nvSpPr>
          <p:cNvPr id="34" name="Text 29"/>
          <p:cNvSpPr/>
          <p:nvPr/>
        </p:nvSpPr>
        <p:spPr>
          <a:xfrm>
            <a:off x="6426200" y="4395825"/>
            <a:ext cx="1460500" cy="289530"/>
          </a:xfrm>
          <a:custGeom>
            <a:avLst/>
            <a:gdLst/>
            <a:ahLst/>
            <a:cxnLst/>
            <a:rect l="l" t="t" r="r" b="b"/>
            <a:pathLst>
              <a:path w="1460500" h="289530">
                <a:moveTo>
                  <a:pt x="144765" y="0"/>
                </a:moveTo>
                <a:lnTo>
                  <a:pt x="1315735" y="0"/>
                </a:lnTo>
                <a:arcTo hR="144765" wR="144765" stAng="16200000" swAng="5400000"/>
                <a:lnTo>
                  <a:pt x="1460500"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square" lIns="76200" tIns="38100" rIns="76200" bIns="12700" rtlCol="0" anchor="t">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Manual review</a:t>
            </a:r>
            <a:endParaRPr lang="en-US" sz="1200" dirty="0"/>
          </a:p>
        </p:txBody>
      </p:sp>
      <p:sp>
        <p:nvSpPr>
          <p:cNvPr id="35" name="Text 30"/>
          <p:cNvSpPr/>
          <p:nvPr/>
        </p:nvSpPr>
        <p:spPr>
          <a:xfrm>
            <a:off x="7988300" y="4437707"/>
            <a:ext cx="3252186" cy="23113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15265"/>
                </a:solidFill>
                <a:latin typeface="Inter" pitchFamily="34" charset="0"/>
                <a:ea typeface="Inter" pitchFamily="34" charset="-122"/>
                <a:cs typeface="Inter" pitchFamily="34" charset="-120"/>
              </a:rPr>
              <a:t>No gold SQL, or needs a person to judge</a:t>
            </a:r>
            <a:endParaRPr lang="en-US" sz="1200" dirty="0"/>
          </a:p>
        </p:txBody>
      </p:sp>
      <p:sp>
        <p:nvSpPr>
          <p:cNvPr id="36" name="Text 31"/>
          <p:cNvSpPr/>
          <p:nvPr/>
        </p:nvSpPr>
        <p:spPr>
          <a:xfrm>
            <a:off x="6426200" y="4786957"/>
            <a:ext cx="4861149"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Runs are kept, so accuracy can be compared before and after every change.</a:t>
            </a:r>
            <a:endParaRPr lang="en-US" sz="1200" dirty="0"/>
          </a:p>
        </p:txBody>
      </p:sp>
      <p:sp>
        <p:nvSpPr>
          <p:cNvPr id="37" name="Text 32"/>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Feedback: every failure becomes a test case</a:t>
            </a:r>
            <a:endParaRPr lang="en-US" sz="3200" dirty="0"/>
          </a:p>
        </p:txBody>
      </p:sp>
      <p:sp>
        <p:nvSpPr>
          <p:cNvPr id="4" name="Shape 2"/>
          <p:cNvSpPr/>
          <p:nvPr/>
        </p:nvSpPr>
        <p:spPr>
          <a:xfrm>
            <a:off x="815975" y="1517005"/>
            <a:ext cx="3197263" cy="2630261"/>
          </a:xfrm>
          <a:prstGeom prst="roundRect">
            <a:avLst>
              <a:gd name="adj" fmla="val 4708"/>
            </a:avLst>
          </a:prstGeom>
          <a:solidFill>
            <a:srgbClr val="F6F6F6"/>
          </a:solidFill>
          <a:ln w="6350">
            <a:solidFill>
              <a:srgbClr val="E7E9EC"/>
            </a:solidFill>
            <a:prstDash val="solid"/>
          </a:ln>
        </p:spPr>
      </p:sp>
      <p:sp>
        <p:nvSpPr>
          <p:cNvPr id="5" name="Text 3"/>
          <p:cNvSpPr/>
          <p:nvPr/>
        </p:nvSpPr>
        <p:spPr>
          <a:xfrm>
            <a:off x="1020838" y="1721867"/>
            <a:ext cx="2871163"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1 · SUPERVISOR FLAGS</a:t>
            </a:r>
            <a:endParaRPr lang="en-US" sz="1200" dirty="0"/>
          </a:p>
        </p:txBody>
      </p:sp>
      <p:sp>
        <p:nvSpPr>
          <p:cNvPr id="6" name="Text 4"/>
          <p:cNvSpPr/>
          <p:nvPr/>
        </p:nvSpPr>
        <p:spPr>
          <a:xfrm>
            <a:off x="1024013" y="2039975"/>
            <a:ext cx="2781187" cy="626836"/>
          </a:xfrm>
          <a:prstGeom prst="roundRect">
            <a:avLst>
              <a:gd name="adj" fmla="val 15702"/>
            </a:avLst>
          </a:prstGeom>
          <a:solidFill>
            <a:srgbClr val="FFFFFF"/>
          </a:solidFill>
          <a:ln w="6350">
            <a:solidFill>
              <a:srgbClr val="E7E9EC"/>
            </a:solidFill>
            <a:prstDash val="solid"/>
          </a:ln>
        </p:spPr>
        <p:txBody>
          <a:bodyPr wrap="square" lIns="87135" tIns="61735" rIns="10658" bIns="36335" rtlCol="0" anchor="t">
            <a:normAutofit/>
          </a:bodyPr>
          <a:lstStyle/>
          <a:p>
            <a:pPr algn="l" indent="0" marL="0">
              <a:lnSpc>
                <a:spcPts val="1755"/>
              </a:lnSpc>
              <a:buNone/>
            </a:pPr>
            <a:r>
              <a:rPr lang="en-US" sz="1300" dirty="0">
                <a:solidFill>
                  <a:srgbClr val="12273F"/>
                </a:solidFill>
                <a:latin typeface="Inter" pitchFamily="34" charset="0"/>
                <a:ea typeface="Inter" pitchFamily="34" charset="-122"/>
                <a:cs typeface="Inter" pitchFamily="34" charset="-120"/>
              </a:rPr>
              <a:t>[Firm A] reported £100m of Stage 3 loans at [Q2 2026]…</a:t>
            </a:r>
            <a:endParaRPr lang="en-US" sz="1300" dirty="0"/>
          </a:p>
        </p:txBody>
      </p:sp>
      <p:sp>
        <p:nvSpPr>
          <p:cNvPr id="7" name="Text 5"/>
          <p:cNvSpPr/>
          <p:nvPr/>
        </p:nvSpPr>
        <p:spPr>
          <a:xfrm>
            <a:off x="1020838" y="2771589"/>
            <a:ext cx="759770" cy="289530"/>
          </a:xfrm>
          <a:custGeom>
            <a:avLst/>
            <a:gdLst/>
            <a:ahLst/>
            <a:cxnLst/>
            <a:rect l="l" t="t" r="r" b="b"/>
            <a:pathLst>
              <a:path w="759770" h="289530">
                <a:moveTo>
                  <a:pt x="144765" y="0"/>
                </a:moveTo>
                <a:lnTo>
                  <a:pt x="615005" y="0"/>
                </a:lnTo>
                <a:arcTo hR="144765" wR="144765" stAng="16200000" swAng="5400000"/>
                <a:lnTo>
                  <a:pt x="759770" y="144765"/>
                </a:lnTo>
                <a:arcTo hR="144765" wR="144765" stAng="0" swAng="5400000"/>
                <a:lnTo>
                  <a:pt x="144765" y="289530"/>
                </a:lnTo>
                <a:arcTo hR="144765" wR="144765" stAng="5400000" swAng="5400000"/>
                <a:lnTo>
                  <a:pt x="0" y="144765"/>
                </a:lnTo>
                <a:arcTo hR="144765" wR="144765" stAng="10800000" swAng="5400000"/>
                <a:close/>
              </a:path>
            </a:pathLst>
          </a:custGeom>
          <a:solidFill>
            <a:srgbClr val="CEF5F5"/>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Helpful</a:t>
            </a:r>
            <a:endParaRPr lang="en-US" sz="1200" dirty="0"/>
          </a:p>
        </p:txBody>
      </p:sp>
      <p:sp>
        <p:nvSpPr>
          <p:cNvPr id="8" name="Text 6"/>
          <p:cNvSpPr/>
          <p:nvPr/>
        </p:nvSpPr>
        <p:spPr>
          <a:xfrm>
            <a:off x="1844108" y="2771589"/>
            <a:ext cx="1040190" cy="289530"/>
          </a:xfrm>
          <a:custGeom>
            <a:avLst/>
            <a:gdLst/>
            <a:ahLst/>
            <a:cxnLst/>
            <a:rect l="l" t="t" r="r" b="b"/>
            <a:pathLst>
              <a:path w="1040190" h="289530">
                <a:moveTo>
                  <a:pt x="144765" y="0"/>
                </a:moveTo>
                <a:lnTo>
                  <a:pt x="895426" y="0"/>
                </a:lnTo>
                <a:arcTo hR="144765" wR="144765" stAng="16200000" swAng="5400000"/>
                <a:lnTo>
                  <a:pt x="1040190" y="144765"/>
                </a:lnTo>
                <a:arcTo hR="144765" wR="144765" stAng="0" swAng="5400000"/>
                <a:lnTo>
                  <a:pt x="144765" y="289530"/>
                </a:lnTo>
                <a:arcTo hR="144765" wR="144765" stAng="5400000" swAng="5400000"/>
                <a:lnTo>
                  <a:pt x="0" y="144765"/>
                </a:lnTo>
                <a:arcTo hR="144765" wR="144765" stAng="10800000" swAng="5400000"/>
                <a:close/>
              </a:path>
            </a:pathLst>
          </a:custGeom>
          <a:solidFill>
            <a:srgbClr val="FFDCBF"/>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Not helpful</a:t>
            </a:r>
            <a:endParaRPr lang="en-US" sz="1200" dirty="0"/>
          </a:p>
        </p:txBody>
      </p:sp>
      <p:sp>
        <p:nvSpPr>
          <p:cNvPr id="9" name="Text 7"/>
          <p:cNvSpPr/>
          <p:nvPr/>
        </p:nvSpPr>
        <p:spPr>
          <a:xfrm>
            <a:off x="1020838" y="3124622"/>
            <a:ext cx="1360147" cy="289530"/>
          </a:xfrm>
          <a:custGeom>
            <a:avLst/>
            <a:gdLst/>
            <a:ahLst/>
            <a:cxnLst/>
            <a:rect l="l" t="t" r="r" b="b"/>
            <a:pathLst>
              <a:path w="1360147" h="289530">
                <a:moveTo>
                  <a:pt x="144765" y="0"/>
                </a:moveTo>
                <a:lnTo>
                  <a:pt x="1215382" y="0"/>
                </a:lnTo>
                <a:arcTo hR="144765" wR="144765" stAng="16200000" swAng="5400000"/>
                <a:lnTo>
                  <a:pt x="1360147" y="144765"/>
                </a:lnTo>
                <a:arcTo hR="144765" wR="144765" stAng="0" swAng="5400000"/>
                <a:lnTo>
                  <a:pt x="144765" y="289530"/>
                </a:lnTo>
                <a:arcTo hR="144765" wR="144765" stAng="5400000" swAng="5400000"/>
                <a:lnTo>
                  <a:pt x="0" y="144765"/>
                </a:lnTo>
                <a:arcTo hR="144765" wR="144765" stAng="10800000" swAng="5400000"/>
                <a:close/>
              </a:path>
            </a:pathLst>
          </a:custGeom>
          <a:solidFill>
            <a:srgbClr val="E7E9EC"/>
          </a:solidFill>
          <a:ln/>
        </p:spPr>
        <p:txBody>
          <a:bodyPr wrap="none" lIns="0" tIns="0" rIns="0" bIns="0" rtlCol="0" anchor="ctr">
            <a:normAutofit/>
          </a:bodyPr>
          <a:lstStyle/>
          <a:p>
            <a:pPr algn="ctr" indent="0" marL="0">
              <a:lnSpc>
                <a:spcPts val="1680"/>
              </a:lnSpc>
              <a:buNone/>
            </a:pPr>
            <a:r>
              <a:rPr lang="en-US" sz="1200" b="1" dirty="0">
                <a:solidFill>
                  <a:srgbClr val="12273F"/>
                </a:solidFill>
                <a:latin typeface="Inter" pitchFamily="34" charset="0"/>
                <a:ea typeface="Inter" pitchFamily="34" charset="-122"/>
                <a:cs typeface="Inter" pitchFamily="34" charset="-120"/>
              </a:rPr>
              <a:t>Request review</a:t>
            </a:r>
            <a:endParaRPr lang="en-US" sz="1200" dirty="0"/>
          </a:p>
        </p:txBody>
      </p:sp>
      <p:sp>
        <p:nvSpPr>
          <p:cNvPr id="10" name="Text 8"/>
          <p:cNvSpPr/>
          <p:nvPr/>
        </p:nvSpPr>
        <p:spPr>
          <a:xfrm>
            <a:off x="1020838" y="3515742"/>
            <a:ext cx="2871163" cy="4520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Can say what was wrong and ask Genie to try again.</a:t>
            </a:r>
            <a:endParaRPr lang="en-US" sz="1200" dirty="0"/>
          </a:p>
        </p:txBody>
      </p:sp>
      <p:pic>
        <p:nvPicPr>
          <p:cNvPr id="11" name="Image 0" descr="arrow-right">    </p:cNvPr>
          <p:cNvPicPr>
            <a:picLocks noChangeAspect="1"/>
          </p:cNvPicPr>
          <p:nvPr/>
        </p:nvPicPr>
        <p:blipFill>
          <a:blip r:embed="rId1"/>
          <a:srcRect l="0" r="0" t="0" b="0"/>
          <a:stretch/>
        </p:blipFill>
        <p:spPr>
          <a:xfrm>
            <a:off x="4118013" y="2762287"/>
            <a:ext cx="279400" cy="139700"/>
          </a:xfrm>
          <a:prstGeom prst="rect">
            <a:avLst/>
          </a:prstGeom>
        </p:spPr>
      </p:pic>
      <p:sp>
        <p:nvSpPr>
          <p:cNvPr id="12" name="Shape 9"/>
          <p:cNvSpPr/>
          <p:nvPr/>
        </p:nvSpPr>
        <p:spPr>
          <a:xfrm>
            <a:off x="4502188" y="1517005"/>
            <a:ext cx="3197301" cy="2630261"/>
          </a:xfrm>
          <a:prstGeom prst="roundRect">
            <a:avLst>
              <a:gd name="adj" fmla="val 4708"/>
            </a:avLst>
          </a:prstGeom>
          <a:solidFill>
            <a:srgbClr val="F6F6F6"/>
          </a:solidFill>
          <a:ln w="6350">
            <a:solidFill>
              <a:srgbClr val="E7E9EC"/>
            </a:solidFill>
            <a:prstDash val="solid"/>
          </a:ln>
        </p:spPr>
      </p:sp>
      <p:sp>
        <p:nvSpPr>
          <p:cNvPr id="13" name="Text 10"/>
          <p:cNvSpPr/>
          <p:nvPr/>
        </p:nvSpPr>
        <p:spPr>
          <a:xfrm>
            <a:off x="4707051" y="1721867"/>
            <a:ext cx="2871202"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15265"/>
                </a:solidFill>
                <a:latin typeface="Inter" pitchFamily="34" charset="0"/>
                <a:ea typeface="Inter" pitchFamily="34" charset="-122"/>
                <a:cs typeface="Inter" pitchFamily="34" charset="-120"/>
              </a:rPr>
              <a:t>2 · EDITOR REVIEWS</a:t>
            </a:r>
            <a:endParaRPr lang="en-US" sz="1200" dirty="0"/>
          </a:p>
        </p:txBody>
      </p:sp>
      <p:sp>
        <p:nvSpPr>
          <p:cNvPr id="14" name="Text 11"/>
          <p:cNvSpPr/>
          <p:nvPr/>
        </p:nvSpPr>
        <p:spPr>
          <a:xfrm>
            <a:off x="4707051" y="2036800"/>
            <a:ext cx="2871202" cy="25653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73F"/>
                </a:solidFill>
                <a:latin typeface="Inter" pitchFamily="34" charset="0"/>
                <a:ea typeface="Inter" pitchFamily="34" charset="-122"/>
                <a:cs typeface="Inter" pitchFamily="34" charset="-120"/>
              </a:rPr>
              <a:t>In the Monitoring tab:</a:t>
            </a:r>
            <a:endParaRPr lang="en-US" sz="1300" dirty="0"/>
          </a:p>
        </p:txBody>
      </p:sp>
      <p:sp>
        <p:nvSpPr>
          <p:cNvPr id="15" name="Text 12"/>
          <p:cNvSpPr/>
          <p:nvPr/>
        </p:nvSpPr>
        <p:spPr>
          <a:xfrm>
            <a:off x="4805095" y="2369530"/>
            <a:ext cx="2765538" cy="1461634"/>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12273F"/>
                </a:solidFill>
                <a:latin typeface="Inter" pitchFamily="34" charset="0"/>
                <a:ea typeface="Inter" pitchFamily="34" charset="-122"/>
                <a:cs typeface="Inter" pitchFamily="34" charset="-120"/>
              </a:rPr>
              <a:t>Every question, answer and its SQL</a:t>
            </a:r>
            <a:endParaRPr lang="en-US" sz="1300" dirty="0"/>
          </a:p>
          <a:p>
            <a:pPr algn="l" marL="155956" indent="-155956">
              <a:lnSpc>
                <a:spcPts val="1885"/>
              </a:lnSpc>
              <a:buSzPct val="100000"/>
              <a:buChar char="•"/>
            </a:pPr>
            <a:r>
              <a:rPr lang="en-US" sz="1300" dirty="0">
                <a:solidFill>
                  <a:srgbClr val="12273F"/>
                </a:solidFill>
                <a:latin typeface="Inter" pitchFamily="34" charset="0"/>
                <a:ea typeface="Inter" pitchFamily="34" charset="-122"/>
                <a:cs typeface="Inter" pitchFamily="34" charset="-120"/>
              </a:rPr>
              <a:t>A weekly digest of usage and feedback</a:t>
            </a:r>
            <a:endParaRPr lang="en-US" sz="1300" dirty="0"/>
          </a:p>
          <a:p>
            <a:pPr algn="l" marL="155956" indent="-155956">
              <a:lnSpc>
                <a:spcPts val="1885"/>
              </a:lnSpc>
              <a:buSzPct val="100000"/>
              <a:buChar char="•"/>
            </a:pPr>
            <a:r>
              <a:rPr lang="en-US" sz="1300" dirty="0">
                <a:solidFill>
                  <a:srgbClr val="12273F"/>
                </a:solidFill>
                <a:latin typeface="Inter" pitchFamily="34" charset="0"/>
                <a:ea typeface="Inter" pitchFamily="34" charset="-122"/>
                <a:cs typeface="Inter" pitchFamily="34" charset="-120"/>
              </a:rPr>
              <a:t>Flagged answers and review requests</a:t>
            </a:r>
            <a:endParaRPr lang="en-US" sz="1300" dirty="0"/>
          </a:p>
        </p:txBody>
      </p:sp>
      <p:pic>
        <p:nvPicPr>
          <p:cNvPr id="16" name="Image 1" descr="arrow-right">    </p:cNvPr>
          <p:cNvPicPr>
            <a:picLocks noChangeAspect="1"/>
          </p:cNvPicPr>
          <p:nvPr/>
        </p:nvPicPr>
        <p:blipFill>
          <a:blip r:embed="rId2"/>
          <a:srcRect l="0" r="0" t="0" b="0"/>
          <a:stretch/>
        </p:blipFill>
        <p:spPr>
          <a:xfrm>
            <a:off x="7804263" y="2762287"/>
            <a:ext cx="279400" cy="139700"/>
          </a:xfrm>
          <a:prstGeom prst="rect">
            <a:avLst/>
          </a:prstGeom>
        </p:spPr>
      </p:pic>
      <p:sp>
        <p:nvSpPr>
          <p:cNvPr id="17" name="Shape 13"/>
          <p:cNvSpPr/>
          <p:nvPr/>
        </p:nvSpPr>
        <p:spPr>
          <a:xfrm>
            <a:off x="8185263" y="1513830"/>
            <a:ext cx="3193937" cy="2636611"/>
          </a:xfrm>
          <a:prstGeom prst="roundRect">
            <a:avLst>
              <a:gd name="adj" fmla="val 4817"/>
            </a:avLst>
          </a:prstGeom>
          <a:solidFill>
            <a:srgbClr val="12273F"/>
          </a:solidFill>
          <a:ln/>
        </p:spPr>
      </p:sp>
      <p:sp>
        <p:nvSpPr>
          <p:cNvPr id="18" name="Text 14"/>
          <p:cNvSpPr/>
          <p:nvPr/>
        </p:nvSpPr>
        <p:spPr>
          <a:xfrm>
            <a:off x="8388463" y="1717030"/>
            <a:ext cx="2871163"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3 · FIX AND LOCK IN</a:t>
            </a:r>
            <a:endParaRPr lang="en-US" sz="1200" dirty="0"/>
          </a:p>
        </p:txBody>
      </p:sp>
      <p:sp>
        <p:nvSpPr>
          <p:cNvPr id="19" name="Text 15"/>
          <p:cNvSpPr/>
          <p:nvPr/>
        </p:nvSpPr>
        <p:spPr>
          <a:xfrm>
            <a:off x="8486507" y="2031963"/>
            <a:ext cx="2765499" cy="1461634"/>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FFFFFF"/>
                </a:solidFill>
                <a:latin typeface="Inter" pitchFamily="34" charset="0"/>
                <a:ea typeface="Inter" pitchFamily="34" charset="-122"/>
                <a:cs typeface="Inter" pitchFamily="34" charset="-120"/>
              </a:rPr>
              <a:t>Diagnose: wrong metric, firm, period, or bad data?</a:t>
            </a:r>
            <a:endParaRPr lang="en-US" sz="1300" dirty="0"/>
          </a:p>
          <a:p>
            <a:pPr algn="l" marL="155956" indent="-155956">
              <a:lnSpc>
                <a:spcPts val="1885"/>
              </a:lnSpc>
              <a:buSzPct val="100000"/>
              <a:buChar char="•"/>
            </a:pPr>
            <a:r>
              <a:rPr lang="en-US" sz="1300" dirty="0">
                <a:solidFill>
                  <a:srgbClr val="FFFFFF"/>
                </a:solidFill>
                <a:latin typeface="Inter" pitchFamily="34" charset="0"/>
                <a:ea typeface="Inter" pitchFamily="34" charset="-122"/>
                <a:cs typeface="Inter" pitchFamily="34" charset="-120"/>
              </a:rPr>
              <a:t>Fix in the right place: Genie's context or the extraction</a:t>
            </a:r>
            <a:endParaRPr lang="en-US" sz="1300" dirty="0"/>
          </a:p>
          <a:p>
            <a:pPr algn="l" marL="155956" indent="-155956">
              <a:lnSpc>
                <a:spcPts val="1885"/>
              </a:lnSpc>
              <a:buSzPct val="100000"/>
              <a:buChar char="•"/>
            </a:pPr>
            <a:r>
              <a:rPr lang="en-US" sz="1300" dirty="0">
                <a:solidFill>
                  <a:srgbClr val="FFFFFF"/>
                </a:solidFill>
                <a:latin typeface="Inter" pitchFamily="34" charset="0"/>
                <a:ea typeface="Inter" pitchFamily="34" charset="-122"/>
                <a:cs typeface="Inter" pitchFamily="34" charset="-120"/>
              </a:rPr>
              <a:t>Add the question to the benchmarks</a:t>
            </a:r>
            <a:endParaRPr lang="en-US" sz="1300" dirty="0"/>
          </a:p>
        </p:txBody>
      </p:sp>
      <p:sp>
        <p:nvSpPr>
          <p:cNvPr id="20" name="Text 16"/>
          <p:cNvSpPr/>
          <p:nvPr/>
        </p:nvSpPr>
        <p:spPr>
          <a:xfrm>
            <a:off x="812800" y="4404444"/>
            <a:ext cx="10566400" cy="579097"/>
          </a:xfrm>
          <a:prstGeom prst="roundRect">
            <a:avLst>
              <a:gd name="adj" fmla="val 21931"/>
            </a:avLst>
          </a:prstGeom>
          <a:solidFill>
            <a:srgbClr val="CEF5F5"/>
          </a:solidFill>
          <a:ln/>
        </p:spPr>
        <p:txBody>
          <a:bodyPr wrap="square" lIns="216803" tIns="115203" rIns="0" bIns="115203" rtlCol="0" anchor="ctr">
            <a:normAutofit/>
          </a:bodyPr>
          <a:lstStyle/>
          <a:p>
            <a:pPr algn="l" indent="0" marL="0">
              <a:lnSpc>
                <a:spcPts val="1960"/>
              </a:lnSpc>
              <a:buNone/>
            </a:pPr>
            <a:r>
              <a:rPr lang="en-US" sz="1400" b="1" dirty="0">
                <a:solidFill>
                  <a:srgbClr val="12273F"/>
                </a:solidFill>
                <a:latin typeface="Inter" pitchFamily="34" charset="0"/>
                <a:ea typeface="Inter" pitchFamily="34" charset="-122"/>
                <a:cs typeface="Inter" pitchFamily="34" charset="-120"/>
              </a:rPr>
              <a:t>Feedback alone does not change Genie.</a:t>
            </a:r>
            <a:r>
              <a:rPr lang="en-US" sz="1400" dirty="0">
                <a:solidFill>
                  <a:srgbClr val="12273F"/>
                </a:solidFill>
                <a:latin typeface="Inter" pitchFamily="34" charset="0"/>
                <a:ea typeface="Inter" pitchFamily="34" charset="-122"/>
                <a:cs typeface="Inter" pitchFamily="34" charset="-120"/>
              </a:rPr>
              <a:t> It needs a named owner and a routine, such as a weekly review.</a:t>
            </a:r>
            <a:endParaRPr lang="en-US" sz="1400" dirty="0"/>
          </a:p>
        </p:txBody>
      </p:sp>
      <p:sp>
        <p:nvSpPr>
          <p:cNvPr id="21" name="Text 17"/>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Two evaluations, one framework</a:t>
            </a:r>
            <a:endParaRPr lang="en-US" sz="3200" dirty="0"/>
          </a:p>
        </p:txBody>
      </p:sp>
      <p:sp>
        <p:nvSpPr>
          <p:cNvPr id="4" name="Shape 2"/>
          <p:cNvSpPr/>
          <p:nvPr/>
        </p:nvSpPr>
        <p:spPr>
          <a:xfrm>
            <a:off x="812800" y="1513830"/>
            <a:ext cx="10566400" cy="2705894"/>
          </a:xfrm>
          <a:prstGeom prst="rect">
            <a:avLst/>
          </a:prstGeom>
          <a:solidFill>
            <a:srgbClr val="FFFFFF"/>
          </a:solidFill>
          <a:ln/>
        </p:spPr>
      </p:sp>
      <p:sp>
        <p:nvSpPr>
          <p:cNvPr id="5" name="Shape 3"/>
          <p:cNvSpPr/>
          <p:nvPr/>
        </p:nvSpPr>
        <p:spPr>
          <a:xfrm>
            <a:off x="11376025" y="1513830"/>
            <a:ext cx="0" cy="2705894"/>
          </a:xfrm>
          <a:prstGeom prst="line">
            <a:avLst/>
          </a:prstGeom>
          <a:noFill/>
          <a:ln w="6350">
            <a:solidFill>
              <a:srgbClr val="E7E9EC"/>
            </a:solidFill>
            <a:prstDash val="solid"/>
          </a:ln>
        </p:spPr>
      </p:sp>
      <p:sp>
        <p:nvSpPr>
          <p:cNvPr id="6" name="Shape 4"/>
          <p:cNvSpPr/>
          <p:nvPr/>
        </p:nvSpPr>
        <p:spPr>
          <a:xfrm>
            <a:off x="812800" y="4216549"/>
            <a:ext cx="10566400" cy="0"/>
          </a:xfrm>
          <a:prstGeom prst="line">
            <a:avLst/>
          </a:prstGeom>
          <a:noFill/>
          <a:ln w="6350">
            <a:solidFill>
              <a:srgbClr val="E7E9EC"/>
            </a:solidFill>
            <a:prstDash val="solid"/>
          </a:ln>
        </p:spPr>
      </p:sp>
      <p:sp>
        <p:nvSpPr>
          <p:cNvPr id="7" name="Shape 5"/>
          <p:cNvSpPr/>
          <p:nvPr/>
        </p:nvSpPr>
        <p:spPr>
          <a:xfrm>
            <a:off x="812800" y="1519878"/>
            <a:ext cx="10566400" cy="0"/>
          </a:xfrm>
          <a:prstGeom prst="line">
            <a:avLst/>
          </a:prstGeom>
          <a:noFill/>
          <a:ln w="12095">
            <a:solidFill>
              <a:srgbClr val="141413">
                <a:alpha val="22000"/>
              </a:srgbClr>
            </a:solidFill>
            <a:prstDash val="solid"/>
          </a:ln>
        </p:spPr>
      </p:sp>
      <p:sp>
        <p:nvSpPr>
          <p:cNvPr id="8" name="Shape 6"/>
          <p:cNvSpPr/>
          <p:nvPr/>
        </p:nvSpPr>
        <p:spPr>
          <a:xfrm>
            <a:off x="818848" y="1513830"/>
            <a:ext cx="0" cy="2705894"/>
          </a:xfrm>
          <a:prstGeom prst="line">
            <a:avLst/>
          </a:prstGeom>
          <a:noFill/>
          <a:ln w="12095">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51895" y="1614825"/>
          <a:ext cx="10295467" cy="2511160"/>
        </p:xfrm>
        <a:graphic>
          <a:graphicData uri="http://schemas.openxmlformats.org/drawingml/2006/table">
            <a:tbl>
              <a:tblPr/>
              <a:tblGrid>
                <a:gridCol w="2265003"/>
                <a:gridCol w="4015232"/>
                <a:gridCol w="4015232"/>
              </a:tblGrid>
              <a:tr h="358737">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 </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FFFFFF"/>
                          </a:solidFill>
                          <a:latin typeface="Inter" pitchFamily="34" charset="0"/>
                          <a:ea typeface="Inter" pitchFamily="34" charset="-122"/>
                          <a:cs typeface="Inter" pitchFamily="34" charset="-120"/>
                        </a:rPr>
                        <a:t>Extraction evaluation (next talk)</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c>
                  <a:txBody>
                    <a:bodyPr/>
                    <a:lstStyle/>
                    <a:p>
                      <a:pPr indent="0" marL="0">
                        <a:lnSpc>
                          <a:spcPts val="1820"/>
                        </a:lnSpc>
                        <a:buNone/>
                      </a:pPr>
                      <a:r>
                        <a:rPr lang="en-US" sz="1300" b="1" dirty="0">
                          <a:solidFill>
                            <a:srgbClr val="3CD7D9"/>
                          </a:solidFill>
                          <a:latin typeface="Inter" pitchFamily="34" charset="0"/>
                          <a:ea typeface="Inter" pitchFamily="34" charset="-122"/>
                          <a:cs typeface="Inter" pitchFamily="34" charset="-120"/>
                        </a:rPr>
                        <a:t>Genie evaluation (this talk)</a:t>
                      </a:r>
                      <a:endParaRPr lang="en-US" sz="1300" dirty="0">
                        <a:latin typeface="Inter" charset="0"/>
                        <a:ea typeface="Inter" charset="0"/>
                        <a:cs typeface="Inter" charset="0"/>
                      </a:endParaRPr>
                    </a:p>
                  </a:txBody>
                  <a:tcPr marL="57785" marR="57785" marT="57785" marB="57785" anchor="t">
                    <a:lnL w="12700" cap="flat" cmpd="sng" algn="ctr">
                      <a:solidFill>
                        <a:srgbClr val="122335"/>
                      </a:solidFill>
                      <a:prstDash val="solid"/>
                      <a:round/>
                      <a:headEnd type="none" w="med" len="med"/>
                      <a:tailEnd type="none" w="med" len="med"/>
                    </a:lnL>
                    <a:lnR w="12700" cap="flat" cmpd="sng" algn="ctr">
                      <a:solidFill>
                        <a:srgbClr val="122335"/>
                      </a:solidFill>
                      <a:prstDash val="solid"/>
                      <a:round/>
                      <a:headEnd type="none" w="med" len="med"/>
                      <a:tailEnd type="none" w="med" len="med"/>
                    </a:lnR>
                    <a:lnT w="0" cap="flat" cmpd="sng" algn="ctr">
                      <a:noFill/>
                    </a:lnT>
                    <a:lnB w="12700" cap="flat" cmpd="sng" algn="ctr">
                      <a:solidFill>
                        <a:srgbClr val="122335"/>
                      </a:solidFill>
                      <a:prstDash val="solid"/>
                      <a:round/>
                      <a:headEnd type="none" w="med" len="med"/>
                      <a:tailEnd type="none" w="med" len="med"/>
                    </a:lnB>
                    <a:solidFill>
                      <a:srgbClr val="12273F"/>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Question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Is the extracted data right?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Does Genie answer correctly from it?</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233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Ground truth</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Labelled claims from MI packs</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Benchmark questions with gold SQL</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Scoring</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Field matching, precision, recall, LLM judges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Result-set comparison, plus manual review</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Error types</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Hallucination, mapping, data quality</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Wrong metric, firm, period or aggregation</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Defining "good"</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Supervisors help label ground truth</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Supervisors write benchmark questions</a:t>
                      </a:r>
                      <a:endParaRPr lang="en-US" sz="1300" dirty="0">
                        <a:latin typeface="Inter" charset="0"/>
                        <a:ea typeface="Inter" charset="0"/>
                        <a:cs typeface="Inter"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8737">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In production</a:t>
                      </a:r>
                      <a:endParaRPr lang="en-US" sz="1300" dirty="0">
                        <a:latin typeface="Inter" charset="0"/>
                        <a:ea typeface="Inter" charset="0"/>
                        <a:cs typeface="Inter" charset="0"/>
                      </a:endParaRPr>
                    </a:p>
                  </a:txBody>
                  <a:tcPr marL="57785" marR="57785" marT="57785" marB="57785" anchor="t">
                    <a:lnL w="0" cap="flat" cmpd="sng" algn="ctr">
                      <a:noFill/>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Still an open question</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c>
                  <a:txBody>
                    <a:bodyPr/>
                    <a:lstStyle/>
                    <a:p>
                      <a:pPr indent="0" marL="0">
                        <a:lnSpc>
                          <a:spcPts val="1820"/>
                        </a:lnSpc>
                        <a:buNone/>
                      </a:pPr>
                      <a:r>
                        <a:rPr lang="en-US" sz="1300" dirty="0">
                          <a:solidFill>
                            <a:srgbClr val="12273F"/>
                          </a:solidFill>
                          <a:latin typeface="Inter" pitchFamily="34" charset="0"/>
                          <a:ea typeface="Inter" pitchFamily="34" charset="-122"/>
                          <a:cs typeface="Inter" pitchFamily="34" charset="-120"/>
                        </a:rPr>
                        <a:t>User feedback and the Monitoring tab</a:t>
                      </a:r>
                      <a:endParaRPr lang="en-US" sz="1300" dirty="0">
                        <a:latin typeface="Inter" charset="0"/>
                        <a:ea typeface="Inter" charset="0"/>
                        <a:cs typeface="Inter" charset="0"/>
                      </a:endParaRPr>
                    </a:p>
                  </a:txBody>
                  <a:tcPr marL="57785" marR="57785" marT="57785" marB="57785"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4"/>
                      </a:solidFill>
                      <a:prstDash val="solid"/>
                      <a:round/>
                      <a:headEnd type="none" w="med" len="med"/>
                      <a:tailEnd type="none" w="med" len="med"/>
                    </a:lnB>
                    <a:solidFill>
                      <a:srgbClr val="F6F6F6"/>
                    </a:solidFill>
                  </a:tcPr>
                </a:tc>
              </a:tr>
            </a:tbl>
          </a:graphicData>
        </a:graphic>
      </p:graphicFrame>
      <p:sp>
        <p:nvSpPr>
          <p:cNvPr id="10" name="Text 7"/>
          <p:cNvSpPr/>
          <p:nvPr/>
        </p:nvSpPr>
        <p:spPr>
          <a:xfrm>
            <a:off x="812800" y="4473724"/>
            <a:ext cx="10566400" cy="622300"/>
          </a:xfrm>
          <a:prstGeom prst="roundRect">
            <a:avLst>
              <a:gd name="adj" fmla="val 20408"/>
            </a:avLst>
          </a:prstGeom>
          <a:solidFill>
            <a:srgbClr val="12273F"/>
          </a:solidFill>
          <a:ln/>
        </p:spPr>
        <p:txBody>
          <a:bodyPr wrap="square" lIns="242203" tIns="140603" rIns="0" bIns="115203" rtlCol="0" anchor="t">
            <a:normAutofit/>
          </a:bodyPr>
          <a:lstStyle/>
          <a:p>
            <a:pPr algn="l" indent="0" marL="0">
              <a:lnSpc>
                <a:spcPts val="2100"/>
              </a:lnSpc>
              <a:buNone/>
            </a:pPr>
            <a:r>
              <a:rPr lang="en-US" sz="1500" dirty="0">
                <a:solidFill>
                  <a:srgbClr val="FFFFFF"/>
                </a:solidFill>
                <a:latin typeface="Inter" pitchFamily="34" charset="0"/>
                <a:ea typeface="Inter" pitchFamily="34" charset="-122"/>
                <a:cs typeface="Inter" pitchFamily="34" charset="-120"/>
              </a:rPr>
              <a:t>A supervisor's answer is only right if </a:t>
            </a:r>
            <a:r>
              <a:rPr lang="en-US" sz="1500" dirty="0">
                <a:solidFill>
                  <a:srgbClr val="3CD7D9"/>
                </a:solidFill>
                <a:latin typeface="Inter" pitchFamily="34" charset="0"/>
                <a:ea typeface="Inter" pitchFamily="34" charset="-122"/>
                <a:cs typeface="Inter" pitchFamily="34" charset="-120"/>
              </a:rPr>
              <a:t>both</a:t>
            </a:r>
            <a:r>
              <a:rPr lang="en-US" sz="1500" dirty="0">
                <a:solidFill>
                  <a:srgbClr val="FFFFFF"/>
                </a:solidFill>
                <a:latin typeface="Inter" pitchFamily="34" charset="0"/>
                <a:ea typeface="Inter" pitchFamily="34" charset="-122"/>
                <a:cs typeface="Inter" pitchFamily="34" charset="-120"/>
              </a:rPr>
              <a:t> are right.</a:t>
            </a:r>
            <a:endParaRPr lang="en-US" sz="1500" dirty="0"/>
          </a:p>
        </p:txBody>
      </p:sp>
      <p:sp>
        <p:nvSpPr>
          <p:cNvPr id="11" name="Text 8"/>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12273F"/>
              </a:gs>
              <a:gs pos="60000">
                <a:srgbClr val="12273F"/>
              </a:gs>
              <a:gs pos="60000">
                <a:srgbClr val="3CD7D9"/>
              </a:gs>
              <a:gs pos="84000">
                <a:srgbClr val="3CD7D9"/>
              </a:gs>
              <a:gs pos="84000">
                <a:srgbClr val="77E3E4"/>
              </a:gs>
              <a:gs pos="100000">
                <a:srgbClr val="77E3E4"/>
              </a:gs>
            </a:gsLst>
            <a:lin ang="0" scaled="0"/>
          </a:gradFill>
          <a:ln/>
        </p:spPr>
      </p:sp>
      <p:sp>
        <p:nvSpPr>
          <p:cNvPr id="3" name="Text 1"/>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73F"/>
                </a:solidFill>
                <a:latin typeface="Outfit" pitchFamily="34" charset="0"/>
                <a:ea typeface="Outfit" pitchFamily="34" charset="-122"/>
                <a:cs typeface="Outfit" pitchFamily="34" charset="-120"/>
              </a:rPr>
              <a:t>Where we take it next</a:t>
            </a:r>
            <a:endParaRPr lang="en-US" sz="3200" dirty="0"/>
          </a:p>
        </p:txBody>
      </p:sp>
      <p:sp>
        <p:nvSpPr>
          <p:cNvPr id="4" name="Text 2"/>
          <p:cNvSpPr/>
          <p:nvPr/>
        </p:nvSpPr>
        <p:spPr>
          <a:xfrm>
            <a:off x="812800" y="1564630"/>
            <a:ext cx="334873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273F"/>
                </a:solidFill>
                <a:latin typeface="Inter" pitchFamily="34" charset="0"/>
                <a:ea typeface="Inter" pitchFamily="34" charset="-122"/>
                <a:cs typeface="Inter" pitchFamily="34" charset="-120"/>
              </a:rPr>
              <a:t>NOW</a:t>
            </a:r>
            <a:endParaRPr lang="en-US" sz="1200" dirty="0"/>
          </a:p>
        </p:txBody>
      </p:sp>
      <p:pic>
        <p:nvPicPr>
          <p:cNvPr id="5" name="Image 0" descr="line">    </p:cNvPr>
          <p:cNvPicPr>
            <a:picLocks noChangeAspect="1"/>
          </p:cNvPicPr>
          <p:nvPr/>
        </p:nvPicPr>
        <p:blipFill>
          <a:blip r:embed="rId1"/>
          <a:srcRect l="0" r="0" t="0" b="0"/>
          <a:stretch/>
        </p:blipFill>
        <p:spPr>
          <a:xfrm>
            <a:off x="812800" y="1892263"/>
            <a:ext cx="3251200" cy="38100"/>
          </a:xfrm>
          <a:prstGeom prst="rect">
            <a:avLst/>
          </a:prstGeom>
        </p:spPr>
      </p:pic>
      <p:sp>
        <p:nvSpPr>
          <p:cNvPr id="6" name="Text 3"/>
          <p:cNvSpPr/>
          <p:nvPr/>
        </p:nvSpPr>
        <p:spPr>
          <a:xfrm>
            <a:off x="897382" y="2044663"/>
            <a:ext cx="3256534" cy="105651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Credit risk Genie agent over numbers and narrative</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Multi-agent prototype behind one UI</a:t>
            </a:r>
            <a:endParaRPr lang="en-US" sz="1400" dirty="0"/>
          </a:p>
        </p:txBody>
      </p:sp>
      <p:sp>
        <p:nvSpPr>
          <p:cNvPr id="7" name="Text 4"/>
          <p:cNvSpPr/>
          <p:nvPr/>
        </p:nvSpPr>
        <p:spPr>
          <a:xfrm>
            <a:off x="4470400" y="1564630"/>
            <a:ext cx="334873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273F"/>
                </a:solidFill>
                <a:latin typeface="Inter" pitchFamily="34" charset="0"/>
                <a:ea typeface="Inter" pitchFamily="34" charset="-122"/>
                <a:cs typeface="Inter" pitchFamily="34" charset="-120"/>
              </a:rPr>
              <a:t>NEXT</a:t>
            </a:r>
            <a:endParaRPr lang="en-US" sz="1200" dirty="0"/>
          </a:p>
        </p:txBody>
      </p:sp>
      <p:pic>
        <p:nvPicPr>
          <p:cNvPr id="8" name="Image 1" descr="line">    </p:cNvPr>
          <p:cNvPicPr>
            <a:picLocks noChangeAspect="1"/>
          </p:cNvPicPr>
          <p:nvPr/>
        </p:nvPicPr>
        <p:blipFill>
          <a:blip r:embed="rId2"/>
          <a:srcRect l="0" r="0" t="0" b="0"/>
          <a:stretch/>
        </p:blipFill>
        <p:spPr>
          <a:xfrm>
            <a:off x="4470400" y="1892263"/>
            <a:ext cx="3251200" cy="38100"/>
          </a:xfrm>
          <a:prstGeom prst="rect">
            <a:avLst/>
          </a:prstGeom>
        </p:spPr>
      </p:pic>
      <p:sp>
        <p:nvSpPr>
          <p:cNvPr id="9" name="Text 5"/>
          <p:cNvSpPr/>
          <p:nvPr/>
        </p:nvSpPr>
        <p:spPr>
          <a:xfrm>
            <a:off x="4554982" y="2044663"/>
            <a:ext cx="3256534" cy="131429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Benchmark set written with supervisors</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Weekly feedback review with a named owner</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More MI packs and firms</a:t>
            </a:r>
            <a:endParaRPr lang="en-US" sz="1400" dirty="0"/>
          </a:p>
        </p:txBody>
      </p:sp>
      <p:sp>
        <p:nvSpPr>
          <p:cNvPr id="10" name="Text 6"/>
          <p:cNvSpPr/>
          <p:nvPr/>
        </p:nvSpPr>
        <p:spPr>
          <a:xfrm>
            <a:off x="8128000" y="1564630"/>
            <a:ext cx="3348736"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273F"/>
                </a:solidFill>
                <a:latin typeface="Inter" pitchFamily="34" charset="0"/>
                <a:ea typeface="Inter" pitchFamily="34" charset="-122"/>
                <a:cs typeface="Inter" pitchFamily="34" charset="-120"/>
              </a:rPr>
              <a:t>LATER</a:t>
            </a:r>
            <a:endParaRPr lang="en-US" sz="1200" dirty="0"/>
          </a:p>
        </p:txBody>
      </p:sp>
      <p:pic>
        <p:nvPicPr>
          <p:cNvPr id="11" name="Image 2" descr="line">    </p:cNvPr>
          <p:cNvPicPr>
            <a:picLocks noChangeAspect="1"/>
          </p:cNvPicPr>
          <p:nvPr/>
        </p:nvPicPr>
        <p:blipFill>
          <a:blip r:embed="rId3"/>
          <a:srcRect l="0" r="0" t="0" b="0"/>
          <a:stretch/>
        </p:blipFill>
        <p:spPr>
          <a:xfrm>
            <a:off x="8128000" y="1892263"/>
            <a:ext cx="3251200" cy="38100"/>
          </a:xfrm>
          <a:prstGeom prst="rect">
            <a:avLst/>
          </a:prstGeom>
        </p:spPr>
      </p:pic>
      <p:sp>
        <p:nvSpPr>
          <p:cNvPr id="12" name="Text 7"/>
          <p:cNvSpPr/>
          <p:nvPr/>
        </p:nvSpPr>
        <p:spPr>
          <a:xfrm>
            <a:off x="8212582" y="2044663"/>
            <a:ext cx="3256534" cy="157207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Bespoke extraction and agents for further risk stripes</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Agent mode inside our own UI, once API access allows</a:t>
            </a:r>
            <a:endParaRPr lang="en-US" sz="1400" dirty="0"/>
          </a:p>
          <a:p>
            <a:pPr algn="l" marL="169418" indent="-169418">
              <a:lnSpc>
                <a:spcPts val="2030"/>
              </a:lnSpc>
              <a:buSzPct val="100000"/>
              <a:buChar char="•"/>
            </a:pPr>
            <a:r>
              <a:rPr lang="en-US" sz="1400" dirty="0">
                <a:solidFill>
                  <a:srgbClr val="12273F"/>
                </a:solidFill>
                <a:latin typeface="Inter" pitchFamily="34" charset="0"/>
                <a:ea typeface="Inter" pitchFamily="34" charset="-122"/>
                <a:cs typeface="Inter" pitchFamily="34" charset="-120"/>
              </a:rPr>
              <a:t>Production monitoring and feedback loops</a:t>
            </a:r>
            <a:endParaRPr lang="en-US" sz="1400" dirty="0"/>
          </a:p>
        </p:txBody>
      </p:sp>
      <p:sp>
        <p:nvSpPr>
          <p:cNvPr id="13" name="Text 8"/>
          <p:cNvSpPr/>
          <p:nvPr/>
        </p:nvSpPr>
        <p:spPr>
          <a:xfrm>
            <a:off x="812800" y="6238267"/>
            <a:ext cx="10883392" cy="23873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15265"/>
                </a:solidFill>
                <a:latin typeface="Inter" pitchFamily="34" charset="0"/>
                <a:ea typeface="Inter" pitchFamily="34" charset="-122"/>
                <a:cs typeface="Inter" pitchFamily="34" charset="-120"/>
              </a:rPr>
              <a:t>Natural language access to supervisory intelligence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273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FFF"/>
                </a:solidFill>
                <a:latin typeface="Outfit" pitchFamily="34" charset="0"/>
                <a:ea typeface="Outfit" pitchFamily="34" charset="-122"/>
                <a:cs typeface="Outfit" pitchFamily="34" charset="-120"/>
              </a:rPr>
              <a:t>Three things to take away</a:t>
            </a:r>
            <a:endParaRPr lang="en-US" sz="3200" dirty="0"/>
          </a:p>
        </p:txBody>
      </p:sp>
      <p:sp>
        <p:nvSpPr>
          <p:cNvPr id="3" name="Text 1"/>
          <p:cNvSpPr/>
          <p:nvPr/>
        </p:nvSpPr>
        <p:spPr>
          <a:xfrm>
            <a:off x="812800" y="3515407"/>
            <a:ext cx="558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3CD7D9"/>
                </a:solidFill>
                <a:latin typeface="Outfit" pitchFamily="34" charset="0"/>
                <a:ea typeface="Outfit" pitchFamily="34" charset="-122"/>
                <a:cs typeface="Outfit" pitchFamily="34" charset="-120"/>
              </a:rPr>
              <a:t>1</a:t>
            </a:r>
            <a:endParaRPr lang="en-US" sz="2800" dirty="0"/>
          </a:p>
        </p:txBody>
      </p:sp>
      <p:sp>
        <p:nvSpPr>
          <p:cNvPr id="4" name="Text 2"/>
          <p:cNvSpPr/>
          <p:nvPr/>
        </p:nvSpPr>
        <p:spPr>
          <a:xfrm>
            <a:off x="1524000" y="3515407"/>
            <a:ext cx="10150856" cy="66546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Inter" pitchFamily="34" charset="0"/>
                <a:ea typeface="Inter" pitchFamily="34" charset="-122"/>
                <a:cs typeface="Inter" pitchFamily="34" charset="-120"/>
              </a:rPr>
              <a:t>Supervisors need curated answers for each risk stripe at the point of need, and a chatbot over PDFs cannot give them.</a:t>
            </a:r>
            <a:endParaRPr lang="en-US" sz="1800" dirty="0"/>
          </a:p>
        </p:txBody>
      </p:sp>
      <p:sp>
        <p:nvSpPr>
          <p:cNvPr id="5" name="Text 3"/>
          <p:cNvSpPr/>
          <p:nvPr/>
        </p:nvSpPr>
        <p:spPr>
          <a:xfrm>
            <a:off x="812800" y="4460267"/>
            <a:ext cx="558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3CD7D9"/>
                </a:solidFill>
                <a:latin typeface="Outfit" pitchFamily="34" charset="0"/>
                <a:ea typeface="Outfit" pitchFamily="34" charset="-122"/>
                <a:cs typeface="Outfit" pitchFamily="34" charset="-120"/>
              </a:rPr>
              <a:t>2</a:t>
            </a:r>
            <a:endParaRPr lang="en-US" sz="2800" dirty="0"/>
          </a:p>
        </p:txBody>
      </p:sp>
      <p:sp>
        <p:nvSpPr>
          <p:cNvPr id="6" name="Text 4"/>
          <p:cNvSpPr/>
          <p:nvPr/>
        </p:nvSpPr>
        <p:spPr>
          <a:xfrm>
            <a:off x="1524000" y="4460267"/>
            <a:ext cx="10150856" cy="66546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Inter" pitchFamily="34" charset="0"/>
                <a:ea typeface="Inter" pitchFamily="34" charset="-122"/>
                <a:cs typeface="Inter" pitchFamily="34" charset="-120"/>
              </a:rPr>
              <a:t>Bespoke extraction plus Genie gives natural language access to numbers and narrative, with every answer traceable to its source.</a:t>
            </a:r>
            <a:endParaRPr lang="en-US" sz="1800" dirty="0"/>
          </a:p>
        </p:txBody>
      </p:sp>
      <p:sp>
        <p:nvSpPr>
          <p:cNvPr id="7" name="Text 5"/>
          <p:cNvSpPr/>
          <p:nvPr/>
        </p:nvSpPr>
        <p:spPr>
          <a:xfrm>
            <a:off x="812800" y="5405140"/>
            <a:ext cx="55880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3CD7D9"/>
                </a:solidFill>
                <a:latin typeface="Outfit" pitchFamily="34" charset="0"/>
                <a:ea typeface="Outfit" pitchFamily="34" charset="-122"/>
                <a:cs typeface="Outfit" pitchFamily="34" charset="-120"/>
              </a:rPr>
              <a:t>3</a:t>
            </a:r>
            <a:endParaRPr lang="en-US" sz="2800" dirty="0"/>
          </a:p>
        </p:txBody>
      </p:sp>
      <p:sp>
        <p:nvSpPr>
          <p:cNvPr id="8" name="Text 6"/>
          <p:cNvSpPr/>
          <p:nvPr/>
        </p:nvSpPr>
        <p:spPr>
          <a:xfrm>
            <a:off x="1524000" y="5405140"/>
            <a:ext cx="10150856" cy="665465"/>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FFF"/>
                </a:solidFill>
                <a:latin typeface="Inter" pitchFamily="34" charset="0"/>
                <a:ea typeface="Inter" pitchFamily="34" charset="-122"/>
                <a:cs typeface="Inter" pitchFamily="34" charset="-120"/>
              </a:rPr>
              <a:t>Answers are only as good as the extraction and the context we curate: benchmarks before release, feedback after.</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273F"/>
        </a:solidFill>
      </p:bgPr>
    </p:bg>
    <p:spTree>
      <p:nvGrpSpPr>
        <p:cNvPr id="1" name=""/>
        <p:cNvGrpSpPr/>
        <p:nvPr/>
      </p:nvGrpSpPr>
      <p:grpSpPr>
        <a:xfrm>
          <a:off x="0" y="0"/>
          <a:ext cx="0" cy="0"/>
          <a:chOff x="0" y="0"/>
          <a:chExt cx="0" cy="0"/>
        </a:xfrm>
      </p:grpSpPr>
      <p:sp>
        <p:nvSpPr>
          <p:cNvPr id="2" name="Shape 0"/>
          <p:cNvSpPr/>
          <p:nvPr/>
        </p:nvSpPr>
        <p:spPr>
          <a:xfrm>
            <a:off x="8509000" y="0"/>
            <a:ext cx="3683000" cy="6858000"/>
          </a:xfrm>
          <a:prstGeom prst="rect">
            <a:avLst/>
          </a:prstGeom>
          <a:gradFill rotWithShape="1">
            <a:gsLst>
              <a:gs pos="0">
                <a:srgbClr val="3CD7D9"/>
              </a:gs>
              <a:gs pos="66000">
                <a:srgbClr val="3CD7D9"/>
              </a:gs>
              <a:gs pos="66000">
                <a:srgbClr val="77E3E4"/>
              </a:gs>
              <a:gs pos="100000">
                <a:srgbClr val="77E3E4"/>
              </a:gs>
            </a:gsLst>
            <a:lin ang="0" scaled="0"/>
          </a:gradFill>
          <a:ln/>
        </p:spPr>
      </p:sp>
      <p:sp>
        <p:nvSpPr>
          <p:cNvPr id="3" name="Text 1"/>
          <p:cNvSpPr/>
          <p:nvPr/>
        </p:nvSpPr>
        <p:spPr>
          <a:xfrm>
            <a:off x="812800" y="812800"/>
            <a:ext cx="7325360" cy="23873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CD7D9"/>
                </a:solidFill>
                <a:latin typeface="Inter" pitchFamily="34" charset="0"/>
                <a:ea typeface="Inter" pitchFamily="34" charset="-122"/>
                <a:cs typeface="Inter" pitchFamily="34" charset="-120"/>
              </a:rPr>
              <a:t>THANK YOU</a:t>
            </a:r>
            <a:endParaRPr lang="en-US" sz="1200" dirty="0"/>
          </a:p>
        </p:txBody>
      </p:sp>
      <p:sp>
        <p:nvSpPr>
          <p:cNvPr id="4" name="Text 2"/>
          <p:cNvSpPr/>
          <p:nvPr>
            <p:ph type="title"/>
          </p:nvPr>
        </p:nvSpPr>
        <p:spPr>
          <a:xfrm>
            <a:off x="812800" y="1229333"/>
            <a:ext cx="7325360" cy="1412195"/>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Outfit" pitchFamily="34" charset="0"/>
                <a:ea typeface="Outfit" pitchFamily="34" charset="-122"/>
                <a:cs typeface="Outfit" pitchFamily="34" charset="-120"/>
              </a:rPr>
              <a:t>Questions and discussion</a:t>
            </a:r>
            <a:endParaRPr lang="en-US" sz="5200" dirty="0"/>
          </a:p>
        </p:txBody>
      </p:sp>
      <p:sp>
        <p:nvSpPr>
          <p:cNvPr id="5" name="Shape 3"/>
          <p:cNvSpPr/>
          <p:nvPr/>
        </p:nvSpPr>
        <p:spPr>
          <a:xfrm>
            <a:off x="831850" y="3581102"/>
            <a:ext cx="0" cy="584162"/>
          </a:xfrm>
          <a:prstGeom prst="line">
            <a:avLst/>
          </a:prstGeom>
          <a:noFill/>
          <a:ln w="38100">
            <a:solidFill>
              <a:srgbClr val="3CD7D9"/>
            </a:solidFill>
            <a:prstDash val="solid"/>
          </a:ln>
        </p:spPr>
      </p:sp>
      <p:sp>
        <p:nvSpPr>
          <p:cNvPr id="6" name="Text 4"/>
          <p:cNvSpPr/>
          <p:nvPr/>
        </p:nvSpPr>
        <p:spPr>
          <a:xfrm>
            <a:off x="1001486" y="3581102"/>
            <a:ext cx="3259038" cy="32763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Outfit" pitchFamily="34" charset="0"/>
                <a:ea typeface="Outfit" pitchFamily="34" charset="-122"/>
                <a:cs typeface="Outfit" pitchFamily="34" charset="-120"/>
              </a:rPr>
              <a:t>[Presenter 1]</a:t>
            </a:r>
            <a:endParaRPr lang="en-US" sz="1700" dirty="0"/>
          </a:p>
        </p:txBody>
      </p:sp>
      <p:sp>
        <p:nvSpPr>
          <p:cNvPr id="7" name="Text 5"/>
          <p:cNvSpPr/>
          <p:nvPr/>
        </p:nvSpPr>
        <p:spPr>
          <a:xfrm>
            <a:off x="1001486" y="3934135"/>
            <a:ext cx="3259038"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[Role, team]</a:t>
            </a:r>
            <a:endParaRPr lang="en-US" sz="1300" dirty="0"/>
          </a:p>
        </p:txBody>
      </p:sp>
      <p:sp>
        <p:nvSpPr>
          <p:cNvPr id="8" name="Shape 6"/>
          <p:cNvSpPr/>
          <p:nvPr/>
        </p:nvSpPr>
        <p:spPr>
          <a:xfrm>
            <a:off x="4591050" y="3581102"/>
            <a:ext cx="0" cy="584162"/>
          </a:xfrm>
          <a:prstGeom prst="line">
            <a:avLst/>
          </a:prstGeom>
          <a:noFill/>
          <a:ln w="38100">
            <a:solidFill>
              <a:srgbClr val="3CD7D9"/>
            </a:solidFill>
            <a:prstDash val="solid"/>
          </a:ln>
        </p:spPr>
      </p:sp>
      <p:sp>
        <p:nvSpPr>
          <p:cNvPr id="9" name="Text 7"/>
          <p:cNvSpPr/>
          <p:nvPr/>
        </p:nvSpPr>
        <p:spPr>
          <a:xfrm>
            <a:off x="4760686" y="3581102"/>
            <a:ext cx="3259038" cy="32763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Outfit" pitchFamily="34" charset="0"/>
                <a:ea typeface="Outfit" pitchFamily="34" charset="-122"/>
                <a:cs typeface="Outfit" pitchFamily="34" charset="-120"/>
              </a:rPr>
              <a:t>[Presenter 2]</a:t>
            </a:r>
            <a:endParaRPr lang="en-US" sz="1700" dirty="0"/>
          </a:p>
        </p:txBody>
      </p:sp>
      <p:sp>
        <p:nvSpPr>
          <p:cNvPr id="10" name="Text 8"/>
          <p:cNvSpPr/>
          <p:nvPr/>
        </p:nvSpPr>
        <p:spPr>
          <a:xfrm>
            <a:off x="4760686" y="3934135"/>
            <a:ext cx="3259038" cy="2565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4C9CF"/>
                </a:solidFill>
                <a:latin typeface="Inter" pitchFamily="34" charset="0"/>
                <a:ea typeface="Inter" pitchFamily="34" charset="-122"/>
                <a:cs typeface="Inter" pitchFamily="34" charset="-120"/>
              </a:rPr>
              <a:t>[Role, team]</a:t>
            </a:r>
            <a:endParaRPr lang="en-US" sz="1300" dirty="0"/>
          </a:p>
        </p:txBody>
      </p:sp>
      <p:sp>
        <p:nvSpPr>
          <p:cNvPr id="11" name="Shape 9"/>
          <p:cNvSpPr/>
          <p:nvPr/>
        </p:nvSpPr>
        <p:spPr>
          <a:xfrm>
            <a:off x="812800" y="5130192"/>
            <a:ext cx="7112000" cy="915005"/>
          </a:xfrm>
          <a:prstGeom prst="roundRect">
            <a:avLst>
              <a:gd name="adj" fmla="val 13880"/>
            </a:avLst>
          </a:prstGeom>
          <a:solidFill>
            <a:srgbClr val="415265"/>
          </a:solidFill>
          <a:ln/>
        </p:spPr>
      </p:sp>
      <p:sp>
        <p:nvSpPr>
          <p:cNvPr id="12" name="Text 10"/>
          <p:cNvSpPr/>
          <p:nvPr/>
        </p:nvSpPr>
        <p:spPr>
          <a:xfrm>
            <a:off x="1066800" y="5320692"/>
            <a:ext cx="6802120" cy="23873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CD7D9"/>
                </a:solidFill>
                <a:latin typeface="Inter" pitchFamily="34" charset="0"/>
                <a:ea typeface="Inter" pitchFamily="34" charset="-122"/>
                <a:cs typeface="Inter" pitchFamily="34" charset="-120"/>
              </a:rPr>
              <a:t>UP NEXT</a:t>
            </a:r>
            <a:endParaRPr lang="en-US" sz="1200" dirty="0"/>
          </a:p>
        </p:txBody>
      </p:sp>
      <p:sp>
        <p:nvSpPr>
          <p:cNvPr id="13" name="Text 11"/>
          <p:cNvSpPr/>
          <p:nvPr/>
        </p:nvSpPr>
        <p:spPr>
          <a:xfrm>
            <a:off x="1066800" y="5597525"/>
            <a:ext cx="680212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FFFFF"/>
                </a:solidFill>
                <a:latin typeface="Inter" pitchFamily="34" charset="0"/>
                <a:ea typeface="Inter" pitchFamily="34" charset="-122"/>
                <a:cs typeface="Inter" pitchFamily="34" charset="-120"/>
              </a:rPr>
              <a:t>Evaluating AI performance in content extraction workflows</a:t>
            </a:r>
            <a:endParaRPr lang="en-US" sz="1500" dirty="0"/>
          </a:p>
        </p:txBody>
      </p:sp>
    </p:spTree>
  </p:cSld>
  <p:clrMapOvr>
    <a:masterClrMapping/>
  </p:clrMapOvr>
</p:sld>
</file>

<file path=ppt/theme/theme1.xml><?xml version="1.0" encoding="utf-8"?>
<a:theme xmlns:a="http://schemas.openxmlformats.org/drawingml/2006/main" name="Natural Language Access to Supervisory Intelligence">
  <a:themeElements>
    <a:clrScheme name="Natural Language Access to Supervisory Intelligence">
      <a:dk1>
        <a:srgbClr val="12273F"/>
      </a:dk1>
      <a:lt1>
        <a:srgbClr val="FFFFFF"/>
      </a:lt1>
      <a:dk2>
        <a:srgbClr val="4D5D6F"/>
      </a:dk2>
      <a:lt2>
        <a:srgbClr val="E7E9EC"/>
      </a:lt2>
      <a:accent1>
        <a:srgbClr val="3CD7D9"/>
      </a:accent1>
      <a:accent2>
        <a:srgbClr val="77E3E4"/>
      </a:accent2>
      <a:accent3>
        <a:srgbClr val="CEF5F5"/>
      </a:accent3>
      <a:accent4>
        <a:srgbClr val="34BCC1"/>
      </a:accent4>
      <a:accent5>
        <a:srgbClr val="FF7300"/>
      </a:accent5>
      <a:accent6>
        <a:srgbClr val="A5D700"/>
      </a:accent6>
      <a:hlink>
        <a:srgbClr val="0563C1"/>
      </a:hlink>
      <a:folHlink>
        <a:srgbClr val="954F72"/>
      </a:folHlink>
    </a:clrScheme>
    <a:fontScheme name="Natural Language Access to Supervisory Intelligence">
      <a:majorFont>
        <a:latin typeface="Outf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Access to Supervisory Intelligence</dc:title>
  <dc:subject/>
  <dc:creator/>
  <cp:lastModifiedBy/>
  <cp:revision>1</cp:revision>
  <dcterms:created xsi:type="dcterms:W3CDTF">2026-10-05T23:01:07Z</dcterms:created>
  <dcterms:modified xsi:type="dcterms:W3CDTF">2026-10-05T23:01:07Z</dcterms:modified>
</cp:coreProperties>
</file>